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embeddedFontLst>
    <p:embeddedFont>
      <p:font typeface="ADLaM Display" panose="02010000000000000000" pitchFamily="34" charset="-122"/>
      <p:regular r:id="rId14"/>
    </p:embeddedFont>
    <p:embeddedFont>
      <p:font typeface="Varela Round" pitchFamily="34" charset="0"/>
      <p:regular r:id="rId15"/>
    </p:embeddedFont>
    <p:embeddedFont>
      <p:font typeface="Varela Round" pitchFamily="34" charset="-122"/>
      <p:regular r:id="rId16"/>
    </p:embeddedFont>
    <p:embeddedFont>
      <p:font typeface="Varela Round" pitchFamily="34" charset="-120"/>
      <p:regular r:id="rId17"/>
    </p:embeddedFont>
    <p:embeddedFont>
      <p:font typeface="ADLaM Display" panose="02010000000000000000"/>
      <p:regular r:id="rId18"/>
    </p:embeddedFont>
    <p:embeddedFont>
      <p:font typeface="Varela Roun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790" b="0" i="0" u="none" strike="noStrike" kern="1200" baseline="0">
                <a:solidFill>
                  <a:srgbClr val="363636"/>
                </a:solidFill>
                <a:latin typeface="ADLaM Display" panose="02010000000000000000"/>
                <a:ea typeface="+mn-ea"/>
                <a:cs typeface="+mn-cs"/>
              </a:defRPr>
            </a:pPr>
            <a:r>
              <a:rPr sz="790" b="0" i="0" u="none" strike="noStrike">
                <a:solidFill>
                  <a:srgbClr val="363636"/>
                </a:solidFill>
                <a:latin typeface="ADLaM Display" panose="02010000000000000000"/>
              </a:rPr>
              <a:t>Effectiveness for Quantitative Data</a:t>
            </a:r>
            <a:endParaRPr sz="790" b="0" i="0" u="none" strike="noStrike">
              <a:solidFill>
                <a:srgbClr val="363636"/>
              </a:solidFill>
              <a:latin typeface="ADLaM Display" panose="02010000000000000000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Effectiveness Score</c:v>
                </c:pt>
              </c:strCache>
            </c:strRef>
          </c:tx>
          <c:spPr>
            <a:solidFill>
              <a:srgbClr val="FF8F7D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Comparison</c:v>
                </c:pt>
                <c:pt idx="1">
                  <c:v>Distribution</c:v>
                </c:pt>
                <c:pt idx="2">
                  <c:v>Relationship</c:v>
                </c:pt>
                <c:pt idx="3">
                  <c:v>Composition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85</c:v>
                </c:pt>
                <c:pt idx="2">
                  <c:v>90</c:v>
                </c:pt>
                <c:pt idx="3">
                  <c:v>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E6E6E6"/>
              </a:solidFill>
              <a:prstDash val="dash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680" b="0" i="0" u="none" strike="noStrike" kern="1200" baseline="0">
                    <a:solidFill>
                      <a:srgbClr val="000000"/>
                    </a:solidFill>
                    <a:latin typeface="Varela Round"/>
                    <a:ea typeface="+mn-ea"/>
                    <a:cs typeface="+mn-cs"/>
                  </a:defRPr>
                </a:pPr>
                <a:r>
                  <a:rPr sz="680" b="0" i="0" u="none" strike="noStrike">
                    <a:solidFill>
                      <a:srgbClr val="000000"/>
                    </a:solidFill>
                    <a:latin typeface="Varela Round"/>
                  </a:rPr>
                  <a:t>Relationship Type</a:t>
                </a:r>
                <a:endParaRPr sz="680" b="0" i="0" u="none" strike="noStrike">
                  <a:solidFill>
                    <a:srgbClr val="000000"/>
                  </a:solidFill>
                  <a:latin typeface="Varela Round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680" b="0" i="0" u="none" strike="noStrike" kern="1200" baseline="0">
                <a:solidFill>
                  <a:srgbClr val="000000"/>
                </a:solidFill>
                <a:latin typeface="Varela Round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 cmpd="sng" algn="ctr">
              <a:solidFill>
                <a:srgbClr val="E6E6E6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680" b="0" i="0" u="none" strike="noStrike" kern="1200" baseline="0">
                    <a:solidFill>
                      <a:srgbClr val="000000"/>
                    </a:solidFill>
                    <a:latin typeface="Varela Round"/>
                    <a:ea typeface="+mn-ea"/>
                    <a:cs typeface="+mn-cs"/>
                  </a:defRPr>
                </a:pPr>
                <a:r>
                  <a:rPr sz="680" b="0" i="0" u="none" strike="noStrike">
                    <a:solidFill>
                      <a:srgbClr val="000000"/>
                    </a:solidFill>
                    <a:latin typeface="Varela Round"/>
                  </a:rPr>
                  <a:t>Score (%)</a:t>
                </a:r>
                <a:endParaRPr sz="680" b="0" i="0" u="none" strike="noStrike">
                  <a:solidFill>
                    <a:srgbClr val="000000"/>
                  </a:solidFill>
                  <a:latin typeface="Varela Round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680" b="0" i="0" u="none" strike="noStrike" kern="1200" baseline="0">
                <a:solidFill>
                  <a:srgbClr val="000000"/>
                </a:solidFill>
                <a:latin typeface="Varela Round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560" b="0" i="0" u="none" strike="noStrike" kern="1200" baseline="0">
              <a:solidFill>
                <a:schemeClr val="tx1"/>
              </a:solidFill>
              <a:latin typeface="Varela Round"/>
              <a:ea typeface="+mn-ea"/>
              <a:cs typeface="Varela Round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42f397ed-46c6-4525-9495-083b3e51c03d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sai_3UAtWVfz::image-1" descr="preencoded.png"/>
          <p:cNvPicPr>
            <a:picLocks noChangeAspect="1"/>
          </p:cNvPicPr>
          <p:nvPr/>
        </p:nvPicPr>
        <p:blipFill>
          <a:blip r:embed="rId1">
            <a:alphaModFix amt="15000"/>
          </a:blip>
          <a:srcRect/>
          <a:stretch>
            <a:fillRect/>
          </a:stretch>
        </p:blipFill>
        <p:spPr>
          <a:xfrm>
            <a:off x="-7144" y="-7144"/>
            <a:ext cx="9144000" cy="5143500"/>
          </a:xfrm>
          <a:prstGeom prst="rect">
            <a:avLst/>
          </a:prstGeom>
        </p:spPr>
      </p:pic>
      <p:pic>
        <p:nvPicPr>
          <p:cNvPr id="3" name="slidesai_3UAtWVfz::deco-scrim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9" y="-7144"/>
            <a:ext cx="9144000" cy="5143500"/>
          </a:xfrm>
          <a:prstGeom prst="rect">
            <a:avLst/>
          </a:prstGeom>
        </p:spPr>
      </p:pic>
      <p:sp>
        <p:nvSpPr>
          <p:cNvPr id="4" name="067eb0cb-8f08-4882-a4ef-574103cb3ce8"/>
          <p:cNvSpPr/>
          <p:nvPr/>
        </p:nvSpPr>
        <p:spPr>
          <a:xfrm>
            <a:off x="992981" y="514350"/>
            <a:ext cx="7158038" cy="1285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65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rPr>
              <a:t>Sample Programs to Pre-process and Visualize Data</a:t>
            </a:r>
            <a:endParaRPr lang="en-US" sz="40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377239d8-0499-46ab-a771-0bc5398f5cee"/>
          <p:cNvSpPr/>
          <p:nvPr/>
        </p:nvSpPr>
        <p:spPr>
          <a:xfrm>
            <a:off x="2521744" y="1971675"/>
            <a:ext cx="4200525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90" b="1" kern="0" spc="40" dirty="0">
                <a:solidFill>
                  <a:srgbClr val="FF8F7D"/>
                </a:solidFill>
                <a:highlight>
                  <a:srgbClr val="FFFFFF"/>
                </a:highlight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THE FOUNDATION OF DATA SCIENCE</a:t>
            </a:r>
            <a:endParaRPr lang="en-US" sz="1690" dirty="0"/>
          </a:p>
        </p:txBody>
      </p:sp>
      <p:sp>
        <p:nvSpPr>
          <p:cNvPr id="6" name="47fcb019-a4f4-431e-9747-1b137c350589"/>
          <p:cNvSpPr/>
          <p:nvPr/>
        </p:nvSpPr>
        <p:spPr>
          <a:xfrm>
            <a:off x="1000125" y="2578894"/>
            <a:ext cx="7143750" cy="28575"/>
          </a:xfrm>
          <a:prstGeom prst="rect">
            <a:avLst/>
          </a:prstGeom>
          <a:solidFill>
            <a:srgbClr val="FF917D">
              <a:alpha val="20000"/>
            </a:srgbClr>
          </a:solidFill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5718b22a-8ee5-4996-b0d0-702b13e9a0be"/>
          <p:cNvSpPr/>
          <p:nvPr/>
        </p:nvSpPr>
        <p:spPr>
          <a:xfrm>
            <a:off x="992981" y="2943225"/>
            <a:ext cx="7158038" cy="4657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35"/>
              </a:lnSpc>
              <a:buNone/>
            </a:pPr>
            <a:r>
              <a:rPr lang="en-US" sz="1400" dirty="0">
                <a:solidFill>
                  <a:srgbClr val="000000">
                    <a:alpha val="80000"/>
                  </a:srgbClr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Modern computational analysis relies on a robust data pipeline. Before insights can be extracted, data must undergo a rigorous transformation process to ensure accuracy and reliability.</a:t>
            </a:r>
            <a:endParaRPr lang="en-US" sz="1400" dirty="0"/>
          </a:p>
        </p:txBody>
      </p:sp>
      <p:grpSp>
        <p:nvGrpSpPr>
          <p:cNvPr id="19" name="group-0Cdqt9ATv3bJh1bBw0dXj"/>
          <p:cNvGrpSpPr/>
          <p:nvPr/>
        </p:nvGrpSpPr>
        <p:grpSpPr>
          <a:xfrm>
            <a:off x="160814" y="3863658"/>
            <a:ext cx="2228850" cy="1028699"/>
            <a:chOff x="1007269" y="4043363"/>
            <a:chExt cx="2228850" cy="1028699"/>
          </a:xfrm>
        </p:grpSpPr>
        <p:sp>
          <p:nvSpPr>
            <p:cNvPr id="8" name="80b1eb1a-eda1-4f93-9151-fa45a297ee7f"/>
            <p:cNvSpPr/>
            <p:nvPr/>
          </p:nvSpPr>
          <p:spPr>
            <a:xfrm>
              <a:off x="1007269" y="4171950"/>
              <a:ext cx="2228850" cy="900112"/>
            </a:xfrm>
            <a:prstGeom prst="roundRect">
              <a:avLst>
                <a:gd name="adj" fmla="val 12698"/>
              </a:avLst>
            </a:prstGeom>
            <a:solidFill>
              <a:srgbClr val="FF8F7D">
                <a:alpha val="5000"/>
              </a:srgbClr>
            </a:solidFill>
            <a:ln w="5715">
              <a:solidFill>
                <a:srgbClr val="FF8F7D">
                  <a:alpha val="1000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" name="1f77f0d4-b40a-4b78-8b9c-4525023f62c1"/>
            <p:cNvSpPr/>
            <p:nvPr/>
          </p:nvSpPr>
          <p:spPr>
            <a:xfrm>
              <a:off x="1530963" y="4043363"/>
              <a:ext cx="1188605" cy="200025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Varela Round" pitchFamily="34" charset="0"/>
                  <a:ea typeface="Varela Round" pitchFamily="34" charset="-122"/>
                  <a:cs typeface="Varela Round" pitchFamily="34" charset="-120"/>
                </a:rPr>
                <a:t>The Data Lifecycle</a:t>
              </a:r>
              <a:endParaRPr lang="en-US" sz="1400" dirty="0"/>
            </a:p>
          </p:txBody>
        </p:sp>
        <p:sp>
          <p:nvSpPr>
            <p:cNvPr id="12" name="883f4ccb-cc4f-4a65-9022-54dc7be4138e"/>
            <p:cNvSpPr/>
            <p:nvPr/>
          </p:nvSpPr>
          <p:spPr>
            <a:xfrm>
              <a:off x="1185863" y="4557713"/>
              <a:ext cx="1843088" cy="28603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125"/>
                </a:lnSpc>
                <a:buNone/>
              </a:pPr>
              <a:r>
                <a:rPr lang="en-US" sz="1400" dirty="0">
                  <a:solidFill>
                    <a:srgbClr val="000000">
                      <a:alpha val="60000"/>
                    </a:srgbClr>
                  </a:solidFill>
                  <a:latin typeface="Varela Round" pitchFamily="34" charset="0"/>
                  <a:ea typeface="Varela Round" pitchFamily="34" charset="-122"/>
                  <a:cs typeface="Varela Round" pitchFamily="34" charset="-120"/>
                </a:rPr>
                <a:t>Raw collection to actionable visualization</a:t>
              </a:r>
              <a:endParaRPr lang="en-US" sz="1400" dirty="0"/>
            </a:p>
          </p:txBody>
        </p:sp>
      </p:grpSp>
      <p:grpSp>
        <p:nvGrpSpPr>
          <p:cNvPr id="20" name="group-ZqGKEEKfnQd6r9fHMuycT"/>
          <p:cNvGrpSpPr/>
          <p:nvPr/>
        </p:nvGrpSpPr>
        <p:grpSpPr>
          <a:xfrm>
            <a:off x="3254375" y="3849846"/>
            <a:ext cx="2228850" cy="757238"/>
            <a:chOff x="3457575" y="3993356"/>
            <a:chExt cx="2228850" cy="757238"/>
          </a:xfrm>
        </p:grpSpPr>
        <p:sp>
          <p:nvSpPr>
            <p:cNvPr id="9" name="a0af5ccd-084a-4524-bd11-b06ac25f87c1"/>
            <p:cNvSpPr/>
            <p:nvPr/>
          </p:nvSpPr>
          <p:spPr>
            <a:xfrm>
              <a:off x="3457575" y="3993356"/>
              <a:ext cx="2228850" cy="757238"/>
            </a:xfrm>
            <a:prstGeom prst="roundRect">
              <a:avLst>
                <a:gd name="adj" fmla="val 15094"/>
              </a:avLst>
            </a:prstGeom>
            <a:solidFill>
              <a:srgbClr val="FF8F7D">
                <a:alpha val="5000"/>
              </a:srgbClr>
            </a:solidFill>
            <a:ln w="5715">
              <a:solidFill>
                <a:srgbClr val="FF8F7D">
                  <a:alpha val="1000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3" name="4ed05acd-b89e-4bfb-9df2-9bb2400aed59"/>
            <p:cNvSpPr/>
            <p:nvPr/>
          </p:nvSpPr>
          <p:spPr>
            <a:xfrm>
              <a:off x="3989413" y="4171950"/>
              <a:ext cx="1193748" cy="200025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Varela Round" pitchFamily="34" charset="0"/>
                  <a:ea typeface="Varela Round" pitchFamily="34" charset="-122"/>
                  <a:cs typeface="Varela Round" pitchFamily="34" charset="-120"/>
                </a:rPr>
                <a:t>Academic Context</a:t>
              </a:r>
              <a:endParaRPr lang="en-US" sz="1400" dirty="0"/>
            </a:p>
          </p:txBody>
        </p:sp>
        <p:sp>
          <p:nvSpPr>
            <p:cNvPr id="14" name="8a2d6eea-962d-4e55-a606-72bd40c99ba7"/>
            <p:cNvSpPr/>
            <p:nvPr/>
          </p:nvSpPr>
          <p:spPr>
            <a:xfrm>
              <a:off x="3611952" y="4607719"/>
              <a:ext cx="1948671" cy="142875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00000">
                      <a:alpha val="60000"/>
                    </a:srgbClr>
                  </a:solidFill>
                  <a:latin typeface="Varela Round" pitchFamily="34" charset="0"/>
                  <a:ea typeface="Varela Round" pitchFamily="34" charset="-122"/>
                  <a:cs typeface="Varela Round" pitchFamily="34" charset="-120"/>
                </a:rPr>
                <a:t>Bridging theory and real-world datasets</a:t>
              </a:r>
              <a:endParaRPr lang="en-US" sz="1400" dirty="0"/>
            </a:p>
          </p:txBody>
        </p:sp>
      </p:grpSp>
      <p:grpSp>
        <p:nvGrpSpPr>
          <p:cNvPr id="21" name="group-dTEtWTYXdB-qcZjIaDplU"/>
          <p:cNvGrpSpPr/>
          <p:nvPr/>
        </p:nvGrpSpPr>
        <p:grpSpPr>
          <a:xfrm>
            <a:off x="6376829" y="3849688"/>
            <a:ext cx="2263140" cy="942975"/>
            <a:chOff x="6007894" y="4043363"/>
            <a:chExt cx="2263140" cy="942975"/>
          </a:xfrm>
        </p:grpSpPr>
        <p:sp>
          <p:nvSpPr>
            <p:cNvPr id="10" name="939324de-ee84-4cc3-a54b-a742e43af262"/>
            <p:cNvSpPr/>
            <p:nvPr/>
          </p:nvSpPr>
          <p:spPr>
            <a:xfrm>
              <a:off x="6007894" y="4229100"/>
              <a:ext cx="2228850" cy="757238"/>
            </a:xfrm>
            <a:prstGeom prst="roundRect">
              <a:avLst>
                <a:gd name="adj" fmla="val 15094"/>
              </a:avLst>
            </a:prstGeom>
            <a:solidFill>
              <a:srgbClr val="FF8F7D">
                <a:alpha val="5000"/>
              </a:srgbClr>
            </a:solidFill>
            <a:ln w="5715">
              <a:solidFill>
                <a:srgbClr val="FF8F7D">
                  <a:alpha val="1000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5" name="8cbf9299-a229-4ad9-b649-22812f6a5f6a"/>
            <p:cNvSpPr/>
            <p:nvPr/>
          </p:nvSpPr>
          <p:spPr>
            <a:xfrm>
              <a:off x="6555163" y="4043363"/>
              <a:ext cx="970006" cy="200025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Varela Round" pitchFamily="34" charset="0"/>
                  <a:ea typeface="Varela Round" pitchFamily="34" charset="-122"/>
                  <a:cs typeface="Varela Round" pitchFamily="34" charset="-120"/>
                </a:rPr>
                <a:t>Core Objective</a:t>
              </a:r>
              <a:endParaRPr lang="en-US" sz="1400" dirty="0"/>
            </a:p>
          </p:txBody>
        </p:sp>
        <p:sp>
          <p:nvSpPr>
            <p:cNvPr id="16" name="817ba20e-c72e-4af2-a201-b35cb2f8198d"/>
            <p:cNvSpPr/>
            <p:nvPr/>
          </p:nvSpPr>
          <p:spPr>
            <a:xfrm>
              <a:off x="6007894" y="4571683"/>
              <a:ext cx="2263140" cy="320675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00000">
                      <a:alpha val="60000"/>
                    </a:srgbClr>
                  </a:solidFill>
                  <a:latin typeface="Varela Round" pitchFamily="34" charset="0"/>
                  <a:ea typeface="Varela Round" pitchFamily="34" charset="-122"/>
                  <a:cs typeface="Varela Round" pitchFamily="34" charset="-120"/>
                </a:rPr>
                <a:t>Automating cleaning and </a:t>
              </a:r>
              <a:endParaRPr lang="en-US" sz="1400" dirty="0">
                <a:solidFill>
                  <a:srgbClr val="000000">
                    <a:alpha val="60000"/>
                  </a:srgbClr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endParaRPr>
            </a:p>
            <a:p>
              <a:pPr marL="0" indent="0" algn="ctr">
                <a:buNone/>
              </a:pPr>
              <a:r>
                <a:rPr lang="en-US" sz="1400" dirty="0">
                  <a:solidFill>
                    <a:srgbClr val="000000">
                      <a:alpha val="60000"/>
                    </a:srgbClr>
                  </a:solidFill>
                  <a:latin typeface="Varela Round" pitchFamily="34" charset="0"/>
                  <a:ea typeface="Varela Round" pitchFamily="34" charset="-122"/>
                  <a:cs typeface="Varela Round" pitchFamily="34" charset="-120"/>
                </a:rPr>
                <a:t>representation</a:t>
              </a:r>
              <a:endParaRPr lang="en-US" sz="1400" dirty="0">
                <a:solidFill>
                  <a:srgbClr val="000000">
                    <a:alpha val="60000"/>
                  </a:srgbClr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endParaRPr>
            </a:p>
          </p:txBody>
        </p: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35000">
                                          <p:val>
                                            <p:strVal val="#ppt_x"/>
                                          </p:val>
                                        </p:tav>
                                        <p:tav tm="65000">
                                          <p:val>
                                            <p:strVal val="#ppt_x"/>
                                          </p:val>
                                        </p:tav>
                                        <p:tav tm="8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0047"/>
                                          </p:val>
                                        </p:tav>
                                        <p:tav tm="65000">
                                          <p:val>
                                            <p:strVal val="#ppt_y-0.0048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35000">
                                          <p:val>
                                            <p:strVal val="#ppt_x"/>
                                          </p:val>
                                        </p:tav>
                                        <p:tav tm="65000">
                                          <p:val>
                                            <p:strVal val="#ppt_x"/>
                                          </p:val>
                                        </p:tav>
                                        <p:tav tm="8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0068"/>
                                          </p:val>
                                        </p:tav>
                                        <p:tav tm="65000">
                                          <p:val>
                                            <p:strVal val="#ppt_y-0.0037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2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35000">
                                          <p:val>
                                            <p:strVal val="#ppt_x"/>
                                          </p:val>
                                        </p:tav>
                                        <p:tav tm="65000">
                                          <p:val>
                                            <p:strVal val="#ppt_x"/>
                                          </p:val>
                                        </p:tav>
                                        <p:tav tm="8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0037"/>
                                          </p:val>
                                        </p:tav>
                                        <p:tav tm="65000">
                                          <p:val>
                                            <p:strVal val="#ppt_y-0.00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2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35000">
                                          <p:val>
                                            <p:strVal val="#ppt_x"/>
                                          </p:val>
                                        </p:tav>
                                        <p:tav tm="65000">
                                          <p:val>
                                            <p:strVal val="#ppt_x"/>
                                          </p:val>
                                        </p:tav>
                                        <p:tav tm="8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0078"/>
                                          </p:val>
                                        </p:tav>
                                        <p:tav tm="65000">
                                          <p:val>
                                            <p:strVal val="#ppt_y-0.0031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35000">
                                          <p:val>
                                            <p:strVal val="#ppt_x"/>
                                          </p:val>
                                        </p:tav>
                                        <p:tav tm="65000">
                                          <p:val>
                                            <p:strVal val="#ppt_x"/>
                                          </p:val>
                                        </p:tav>
                                        <p:tav tm="8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0068"/>
                                          </p:val>
                                        </p:tav>
                                        <p:tav tm="65000">
                                          <p:val>
                                            <p:strVal val="#ppt_y-0.0037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2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35000">
                                          <p:val>
                                            <p:strVal val="#ppt_x"/>
                                          </p:val>
                                        </p:tav>
                                        <p:tav tm="65000">
                                          <p:val>
                                            <p:strVal val="#ppt_x"/>
                                          </p:val>
                                        </p:tav>
                                        <p:tav tm="8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0068"/>
                                          </p:val>
                                        </p:tav>
                                        <p:tav tm="65000">
                                          <p:val>
                                            <p:strVal val="#ppt_y-0.0037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2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35000">
                                          <p:val>
                                            <p:strVal val="#ppt_x"/>
                                          </p:val>
                                        </p:tav>
                                        <p:tav tm="65000">
                                          <p:val>
                                            <p:strVal val="#ppt_x"/>
                                          </p:val>
                                        </p:tav>
                                        <p:tav tm="8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0068"/>
                                          </p:val>
                                        </p:tav>
                                        <p:tav tm="65000">
                                          <p:val>
                                            <p:strVal val="#ppt_y-0.0037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2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35000">
                                          <p:val>
                                            <p:strVal val="#ppt_x"/>
                                          </p:val>
                                        </p:tav>
                                        <p:tav tm="65000">
                                          <p:val>
                                            <p:strVal val="#ppt_x"/>
                                          </p:val>
                                        </p:tav>
                                        <p:tav tm="8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0058"/>
                                          </p:val>
                                        </p:tav>
                                        <p:tav tm="65000">
                                          <p:val>
                                            <p:strVal val="#ppt_y-0.0042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19" grpId="0" bldLvl="0" animBg="1"/>
      <p:bldP spid="20" grpId="0" bldLvl="0" animBg="1"/>
      <p:bldP spid="2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b95f72-1b55-49fc-82ff-1a5dbd479720"/>
          <p:cNvSpPr/>
          <p:nvPr/>
        </p:nvSpPr>
        <p:spPr>
          <a:xfrm>
            <a:off x="342900" y="342900"/>
            <a:ext cx="8486775" cy="342900"/>
          </a:xfrm>
          <a:prstGeom prst="rect">
            <a:avLst/>
          </a:prstGeom>
          <a:noFill/>
        </p:spPr>
        <p:txBody>
          <a:bodyPr wrap="none" lIns="22860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rPr>
              <a:t>The Role of Data Preparation</a:t>
            </a:r>
            <a:endParaRPr lang="en-US" sz="1400" b="1" dirty="0">
              <a:solidFill>
                <a:srgbClr val="000000"/>
              </a:solidFill>
              <a:latin typeface="Times New Roman" panose="02020603050405020304" charset="0"/>
              <a:ea typeface="ADLaM Display" panose="02010000000000000000" pitchFamily="34" charset="-122"/>
              <a:cs typeface="Times New Roman" panose="02020603050405020304" charset="0"/>
            </a:endParaRPr>
          </a:p>
        </p:txBody>
      </p:sp>
      <p:sp>
        <p:nvSpPr>
          <p:cNvPr id="3" name="edb95f72-1b55-49fc-82ff-1a5dbd479720::border-strip-left"/>
          <p:cNvSpPr/>
          <p:nvPr/>
        </p:nvSpPr>
        <p:spPr>
          <a:xfrm>
            <a:off x="342900" y="342900"/>
            <a:ext cx="57150" cy="342900"/>
          </a:xfrm>
          <a:prstGeom prst="rect">
            <a:avLst/>
          </a:prstGeom>
          <a:solidFill>
            <a:srgbClr val="FF8F7D"/>
          </a:solidFill>
          <a:ln w="12700">
            <a:solidFill>
              <a:srgbClr val="FF8F7D">
                <a:alpha val="0"/>
              </a:srgbClr>
            </a:solidFill>
            <a:prstDash val="solid"/>
          </a:ln>
        </p:spPr>
      </p:sp>
      <p:grpSp>
        <p:nvGrpSpPr>
          <p:cNvPr id="32" name="group-ha3dNnVxwcXGJSoQZOLKX"/>
          <p:cNvGrpSpPr/>
          <p:nvPr/>
        </p:nvGrpSpPr>
        <p:grpSpPr>
          <a:xfrm>
            <a:off x="342900" y="914400"/>
            <a:ext cx="3328988" cy="2135981"/>
            <a:chOff x="342900" y="914400"/>
            <a:chExt cx="3328988" cy="2135981"/>
          </a:xfrm>
        </p:grpSpPr>
        <p:sp>
          <p:nvSpPr>
            <p:cNvPr id="4" name="bedf8582-b32b-44ce-b130-52c7cfde937e"/>
            <p:cNvSpPr/>
            <p:nvPr/>
          </p:nvSpPr>
          <p:spPr>
            <a:xfrm>
              <a:off x="342900" y="914400"/>
              <a:ext cx="3328988" cy="2135981"/>
            </a:xfrm>
            <a:prstGeom prst="roundRect">
              <a:avLst>
                <a:gd name="adj" fmla="val 10702"/>
              </a:avLst>
            </a:prstGeom>
            <a:solidFill>
              <a:srgbClr val="F2F2F2"/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" name="c685c301-19cb-433e-ae5c-babedfd87649"/>
            <p:cNvSpPr/>
            <p:nvPr/>
          </p:nvSpPr>
          <p:spPr>
            <a:xfrm>
              <a:off x="571500" y="1143000"/>
              <a:ext cx="2886075" cy="51435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A1E00"/>
                  </a:solidFill>
                  <a:latin typeface="Times New Roman" panose="02020603050405020304" charset="0"/>
                  <a:ea typeface="ADLaM Display" panose="02010000000000000000" pitchFamily="34" charset="-122"/>
                  <a:cs typeface="Times New Roman" panose="02020603050405020304" charset="0"/>
                </a:rPr>
                <a:t>Why Raw Data is Insufficient</a:t>
              </a:r>
              <a:endParaRPr lang="en-US" sz="1400" b="1" dirty="0">
                <a:solidFill>
                  <a:srgbClr val="DA1E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endParaRPr>
            </a:p>
          </p:txBody>
        </p:sp>
        <p:sp>
          <p:nvSpPr>
            <p:cNvPr id="10" name="962ed725-996c-488b-9c03-962b8cd0dfc8"/>
            <p:cNvSpPr/>
            <p:nvPr/>
          </p:nvSpPr>
          <p:spPr>
            <a:xfrm>
              <a:off x="571500" y="1771650"/>
              <a:ext cx="2886075" cy="105013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650"/>
                </a:lnSpc>
                <a:buNone/>
              </a:pPr>
              <a:r>
                <a:rPr lang="en-US" sz="1400" dirty="0">
                  <a:solidFill>
                    <a:srgbClr val="000000">
                      <a:alpha val="8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Raw data is frequently </a:t>
              </a:r>
              <a:r>
                <a:rPr lang="en-US" sz="1400" b="1" dirty="0">
                  <a:solidFill>
                    <a:srgbClr val="000000">
                      <a:alpha val="8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"dirty,"</a:t>
              </a:r>
              <a:r>
                <a:rPr lang="en-US" sz="1400" dirty="0">
                  <a:solidFill>
                    <a:srgbClr val="000000">
                      <a:alpha val="8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 containing inconsistencies, errors, and formats that machines cannot directly process. Systematic preparation is the most time-consuming yet critical phase of any analysis project.</a:t>
              </a: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1" name="group-fI1cbL3jS7cgNvIkJ0v-a"/>
          <p:cNvGrpSpPr/>
          <p:nvPr/>
        </p:nvGrpSpPr>
        <p:grpSpPr>
          <a:xfrm>
            <a:off x="342900" y="3271838"/>
            <a:ext cx="3321844" cy="1457325"/>
            <a:chOff x="342900" y="3271838"/>
            <a:chExt cx="3321844" cy="1457325"/>
          </a:xfrm>
        </p:grpSpPr>
        <p:sp>
          <p:nvSpPr>
            <p:cNvPr id="5" name="397874f8-6214-4e11-b255-8e0eaff705fa"/>
            <p:cNvSpPr/>
            <p:nvPr/>
          </p:nvSpPr>
          <p:spPr>
            <a:xfrm rot="21540000">
              <a:off x="342900" y="3271838"/>
              <a:ext cx="3321844" cy="1457325"/>
            </a:xfrm>
            <a:prstGeom prst="roundRect">
              <a:avLst>
                <a:gd name="adj" fmla="val 15686"/>
              </a:avLst>
            </a:prstGeom>
            <a:solidFill>
              <a:srgbClr val="FF8F7D"/>
            </a:solidFill>
            <a:effectLst>
              <a:outerShdw blurRad="177800" dist="139700" dir="5400000" algn="bl" rotWithShape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" name="94db6942-476c-4515-a108-2b29a286d800"/>
            <p:cNvSpPr/>
            <p:nvPr/>
          </p:nvSpPr>
          <p:spPr>
            <a:xfrm rot="21540000">
              <a:off x="566761" y="3500354"/>
              <a:ext cx="2878931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795"/>
                </a:lnSpc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Times New Roman" panose="02020603050405020304" charset="0"/>
                  <a:ea typeface="ADLaM Display" panose="02010000000000000000" pitchFamily="34" charset="-122"/>
                  <a:cs typeface="Times New Roman" panose="02020603050405020304" charset="0"/>
                </a:rPr>
                <a:t>The "Garbage In, Garbage Out" Principle</a:t>
              </a:r>
              <a:endParaRPr lang="en-US" sz="1400" b="1" dirty="0">
                <a:solidFill>
                  <a:srgbClr val="FFFFFF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endParaRPr>
            </a:p>
          </p:txBody>
        </p:sp>
        <p:sp>
          <p:nvSpPr>
            <p:cNvPr id="12" name="880685b8-49fa-4a5d-b934-047a41c43344"/>
            <p:cNvSpPr/>
            <p:nvPr/>
          </p:nvSpPr>
          <p:spPr>
            <a:xfrm rot="21540000">
              <a:off x="572182" y="4035791"/>
              <a:ext cx="457200" cy="28575"/>
            </a:xfrm>
            <a:prstGeom prst="rect">
              <a:avLst/>
            </a:prstGeom>
            <a:solidFill>
              <a:srgbClr val="FFBCB1"/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" name="92684e4b-eb81-4ebf-b93d-e998de9df7ae"/>
            <p:cNvSpPr/>
            <p:nvPr/>
          </p:nvSpPr>
          <p:spPr>
            <a:xfrm rot="21540000">
              <a:off x="577234" y="4157488"/>
              <a:ext cx="2878931" cy="3429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1400" i="1" dirty="0">
                  <a:solidFill>
                    <a:srgbClr val="FFFFFF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The quality of your output is directly limited by the quality of your input.</a:t>
              </a:r>
              <a:endParaRPr lang="en-US" sz="1400" i="1" dirty="0">
                <a:solidFill>
                  <a:srgbClr val="FFFFFF"/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</p:grpSp>
      <p:grpSp>
        <p:nvGrpSpPr>
          <p:cNvPr id="33" name="group-06iTcv8x-3doZWiN43hWq"/>
          <p:cNvGrpSpPr/>
          <p:nvPr/>
        </p:nvGrpSpPr>
        <p:grpSpPr>
          <a:xfrm>
            <a:off x="4007644" y="914400"/>
            <a:ext cx="4793456" cy="914400"/>
            <a:chOff x="4007644" y="914400"/>
            <a:chExt cx="4793456" cy="914400"/>
          </a:xfrm>
        </p:grpSpPr>
        <p:sp>
          <p:nvSpPr>
            <p:cNvPr id="6" name="9bb45232-e60a-47c8-a8f7-c55683d6adc1"/>
            <p:cNvSpPr/>
            <p:nvPr/>
          </p:nvSpPr>
          <p:spPr>
            <a:xfrm>
              <a:off x="4007644" y="914400"/>
              <a:ext cx="4793456" cy="9144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1430">
              <a:solidFill>
                <a:srgbClr val="FFE9E5"/>
              </a:solidFill>
            </a:ln>
            <a:effectLst>
              <a:outerShdw blurRad="25400" dist="12700" dir="5400000" algn="bl" rotWithShape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28" name="group-Fruhc0vk3czB0TZaeqbR-"/>
            <p:cNvGrpSpPr/>
            <p:nvPr/>
          </p:nvGrpSpPr>
          <p:grpSpPr>
            <a:xfrm>
              <a:off x="4193381" y="1143000"/>
              <a:ext cx="457200" cy="457200"/>
              <a:chOff x="4193381" y="1143000"/>
              <a:chExt cx="457200" cy="457200"/>
            </a:xfrm>
          </p:grpSpPr>
          <p:sp>
            <p:nvSpPr>
              <p:cNvPr id="14" name="slidesai_v81jW5_S::icon-1"/>
              <p:cNvSpPr/>
              <p:nvPr/>
            </p:nvSpPr>
            <p:spPr>
              <a:xfrm>
                <a:off x="4193381" y="1143000"/>
                <a:ext cx="457200" cy="457200"/>
              </a:xfrm>
              <a:prstGeom prst="ellipse">
                <a:avLst/>
              </a:prstGeom>
              <a:solidFill>
                <a:srgbClr val="FFF4F2"/>
              </a:solidFill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sz="1400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17" name="51d83c07-648f-4554-95ec-575c69dcf1fb" descr="preencoded.png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307681" y="1257300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18" name="91de3b66-69ec-4ea4-bf0e-d253dad48667"/>
            <p:cNvSpPr/>
            <p:nvPr/>
          </p:nvSpPr>
          <p:spPr>
            <a:xfrm>
              <a:off x="4822031" y="1100138"/>
              <a:ext cx="3829050" cy="200025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ADLaM Display" panose="02010000000000000000" pitchFamily="34" charset="-122"/>
                  <a:cs typeface="Times New Roman" panose="02020603050405020304" charset="0"/>
                </a:rPr>
                <a:t>Integrity</a:t>
              </a:r>
              <a:endParaRPr lang="en-US" sz="1400" b="1" dirty="0">
                <a:solidFill>
                  <a:srgbClr val="0000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endParaRPr>
            </a:p>
          </p:txBody>
        </p:sp>
        <p:sp>
          <p:nvSpPr>
            <p:cNvPr id="19" name="9e183760-a3c7-4257-913e-e16c0b871812"/>
            <p:cNvSpPr/>
            <p:nvPr/>
          </p:nvSpPr>
          <p:spPr>
            <a:xfrm>
              <a:off x="4822031" y="1300163"/>
              <a:ext cx="3814763" cy="3429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1400" dirty="0">
                  <a:solidFill>
                    <a:srgbClr val="000000">
                      <a:alpha val="7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Poorly prepared data leads to biased models and misleading visualizations.</a:t>
              </a:r>
              <a:endParaRPr lang="en-US" sz="1400" dirty="0">
                <a:solidFill>
                  <a:srgbClr val="000000">
                    <a:alpha val="70000"/>
                  </a:srgbClr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</p:grpSp>
      <p:grpSp>
        <p:nvGrpSpPr>
          <p:cNvPr id="34" name="group-6S15xE29IpaaTqLxgtpwt"/>
          <p:cNvGrpSpPr/>
          <p:nvPr/>
        </p:nvGrpSpPr>
        <p:grpSpPr>
          <a:xfrm>
            <a:off x="4007644" y="1993106"/>
            <a:ext cx="4793456" cy="914400"/>
            <a:chOff x="4007644" y="1993106"/>
            <a:chExt cx="4793456" cy="914400"/>
          </a:xfrm>
        </p:grpSpPr>
        <p:sp>
          <p:nvSpPr>
            <p:cNvPr id="7" name="7cf7be18-dad9-45de-96c0-ee71da0eab49"/>
            <p:cNvSpPr/>
            <p:nvPr/>
          </p:nvSpPr>
          <p:spPr>
            <a:xfrm>
              <a:off x="4007644" y="1993106"/>
              <a:ext cx="4793456" cy="9144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1430">
              <a:solidFill>
                <a:srgbClr val="E4E3FE"/>
              </a:solidFill>
            </a:ln>
            <a:effectLst>
              <a:outerShdw blurRad="25400" dist="12700" dir="5400000" algn="bl" rotWithShape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29" name="group-SL-m_QDK0aR3e6JDzRRk7"/>
            <p:cNvGrpSpPr/>
            <p:nvPr/>
          </p:nvGrpSpPr>
          <p:grpSpPr>
            <a:xfrm>
              <a:off x="4193381" y="2221706"/>
              <a:ext cx="457200" cy="457200"/>
              <a:chOff x="4193381" y="2221706"/>
              <a:chExt cx="457200" cy="457200"/>
            </a:xfrm>
          </p:grpSpPr>
          <p:sp>
            <p:nvSpPr>
              <p:cNvPr id="15" name="slidesai_v81jW5_S::icon-2"/>
              <p:cNvSpPr/>
              <p:nvPr/>
            </p:nvSpPr>
            <p:spPr>
              <a:xfrm>
                <a:off x="4193381" y="2221706"/>
                <a:ext cx="457200" cy="457200"/>
              </a:xfrm>
              <a:prstGeom prst="ellipse">
                <a:avLst/>
              </a:prstGeom>
              <a:solidFill>
                <a:srgbClr val="F1F1FE"/>
              </a:solidFill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sz="1400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20" name="daa93757-8986-4d99-9d97-01c05fcb27f0" descr="preencoded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07681" y="2336006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21" name="c7fb7b45-2d13-4fcb-b5ca-ef7dd8059205"/>
            <p:cNvSpPr/>
            <p:nvPr/>
          </p:nvSpPr>
          <p:spPr>
            <a:xfrm>
              <a:off x="4822031" y="2178844"/>
              <a:ext cx="3829050" cy="200025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ADLaM Display" panose="02010000000000000000" pitchFamily="34" charset="-122"/>
                  <a:cs typeface="Times New Roman" panose="02020603050405020304" charset="0"/>
                </a:rPr>
                <a:t>Efficiency</a:t>
              </a:r>
              <a:endParaRPr lang="en-US" sz="1400" b="1" dirty="0">
                <a:solidFill>
                  <a:srgbClr val="0000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endParaRPr>
            </a:p>
          </p:txBody>
        </p:sp>
        <p:sp>
          <p:nvSpPr>
            <p:cNvPr id="22" name="0fcf7660-9f29-4030-ba12-ffc55ec15623"/>
            <p:cNvSpPr/>
            <p:nvPr/>
          </p:nvSpPr>
          <p:spPr>
            <a:xfrm>
              <a:off x="4822031" y="2378869"/>
              <a:ext cx="3814763" cy="3429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1400" dirty="0">
                  <a:solidFill>
                    <a:srgbClr val="000000">
                      <a:alpha val="7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Clean data reduces computational overhead and simplifies algorithmic complexity.</a:t>
              </a:r>
              <a:endParaRPr lang="en-US" sz="1400" dirty="0">
                <a:solidFill>
                  <a:srgbClr val="000000">
                    <a:alpha val="70000"/>
                  </a:srgbClr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</p:grpSp>
      <p:grpSp>
        <p:nvGrpSpPr>
          <p:cNvPr id="35" name="group-KqYkGiBl-tSJcE3JZp7SC"/>
          <p:cNvGrpSpPr/>
          <p:nvPr/>
        </p:nvGrpSpPr>
        <p:grpSpPr>
          <a:xfrm>
            <a:off x="4007644" y="3071813"/>
            <a:ext cx="4793456" cy="914400"/>
            <a:chOff x="4007644" y="3071813"/>
            <a:chExt cx="4793456" cy="914400"/>
          </a:xfrm>
        </p:grpSpPr>
        <p:sp>
          <p:nvSpPr>
            <p:cNvPr id="8" name="a918245e-c372-4231-b49c-7293b38cf0b4"/>
            <p:cNvSpPr/>
            <p:nvPr/>
          </p:nvSpPr>
          <p:spPr>
            <a:xfrm>
              <a:off x="4007644" y="3071813"/>
              <a:ext cx="4793456" cy="9144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1430">
              <a:solidFill>
                <a:srgbClr val="E9F6FD"/>
              </a:solidFill>
            </a:ln>
            <a:effectLst>
              <a:outerShdw blurRad="25400" dist="12700" dir="5400000" algn="bl" rotWithShape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30" name="group-4Z1v4Mfbhqqd51U7i2Zm_"/>
            <p:cNvGrpSpPr/>
            <p:nvPr/>
          </p:nvGrpSpPr>
          <p:grpSpPr>
            <a:xfrm>
              <a:off x="4193381" y="3300413"/>
              <a:ext cx="457200" cy="457200"/>
              <a:chOff x="4193381" y="3300413"/>
              <a:chExt cx="457200" cy="457200"/>
            </a:xfrm>
          </p:grpSpPr>
          <p:sp>
            <p:nvSpPr>
              <p:cNvPr id="16" name="slidesai_v81jW5_S::icon-3"/>
              <p:cNvSpPr/>
              <p:nvPr/>
            </p:nvSpPr>
            <p:spPr>
              <a:xfrm>
                <a:off x="4193381" y="3300413"/>
                <a:ext cx="457200" cy="457200"/>
              </a:xfrm>
              <a:prstGeom prst="ellipse">
                <a:avLst/>
              </a:prstGeom>
              <a:solidFill>
                <a:srgbClr val="F4FBFE"/>
              </a:solidFill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sz="1400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23" name="f7663fd1-1312-42fe-a563-f93926f7107c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07681" y="3414713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24" name="f9aeebb6-3650-410b-9db9-9c379bc2074f"/>
            <p:cNvSpPr/>
            <p:nvPr/>
          </p:nvSpPr>
          <p:spPr>
            <a:xfrm>
              <a:off x="4822031" y="3257550"/>
              <a:ext cx="3829050" cy="200025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ADLaM Display" panose="02010000000000000000" pitchFamily="34" charset="-122"/>
                  <a:cs typeface="Times New Roman" panose="02020603050405020304" charset="0"/>
                </a:rPr>
                <a:t>Consistency</a:t>
              </a:r>
              <a:endParaRPr lang="en-US" sz="1400" b="1" dirty="0">
                <a:solidFill>
                  <a:srgbClr val="0000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endParaRPr>
            </a:p>
          </p:txBody>
        </p:sp>
        <p:sp>
          <p:nvSpPr>
            <p:cNvPr id="25" name="6d98ca17-038a-4da7-b45c-c371b6248696"/>
            <p:cNvSpPr/>
            <p:nvPr/>
          </p:nvSpPr>
          <p:spPr>
            <a:xfrm>
              <a:off x="4822031" y="3457575"/>
              <a:ext cx="3814763" cy="3429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1400" dirty="0">
                  <a:solidFill>
                    <a:srgbClr val="000000">
                      <a:alpha val="7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Standardizing formats ensures that different software modules can communicate effectively.</a:t>
              </a:r>
              <a:endParaRPr lang="en-US" sz="1400" dirty="0">
                <a:solidFill>
                  <a:srgbClr val="000000">
                    <a:alpha val="70000"/>
                  </a:srgbClr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tmFilter="0,0; 0.25,0.578; 0.5,0.875; 0.75,0.984; 1,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tmFilter="0,0; 0.25,0.578; 0.5,0.875; 0.75,0.984; 1,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tmFilter="0,0; 0.25,0.578; 0.5,0.875; 0.75,0.984; 1,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tmFilter="0,0; 0.25,0.578; 0.5,0.875; 0.75,0.984; 1,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tmFilter="0,0; 0.25,0.578; 0.5,0.875; 0.75,0.984; 1,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tmFilter="0,0; 0.25,0.578; 0.5,0.875; 0.75,0.984; 1,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tmFilter="0,0; 0.25,0.578; 0.5,0.875; 0.75,0.984; 1,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tmFilter="0,0; 0.25,0.578; 0.5,0.875; 0.75,0.984; 1,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tmFilter="0,0; 0.25,0.578; 0.5,0.875; 0.75,0.984; 1,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tmFilter="0,0; 0.25,0.578; 0.5,0.875; 0.75,0.984; 1,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00" tmFilter="0,0; 0.25,0.578; 0.5,0.875; 0.75,0.984; 1,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600" tmFilter="0,0; 0.25,0.578; 0.5,0.875; 0.75,0.984; 1,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00" tmFilter="0,0; 0.25,0.578; 0.5,0.875; 0.75,0.984; 1,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00" tmFilter="0,0; 0.25,0.578; 0.5,0.875; 0.75,0.984; 1,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1" grpId="0"/>
      <p:bldP spid="32" grpId="0"/>
      <p:bldP spid="33" grpId="0"/>
      <p:bldP spid="34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7a8563b-2f23-4467-b111-f5855bcdfba7"/>
          <p:cNvSpPr/>
          <p:nvPr/>
        </p:nvSpPr>
        <p:spPr>
          <a:xfrm>
            <a:off x="342900" y="342900"/>
            <a:ext cx="8486775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rPr>
              <a:t>Common Pre-processing Techniques</a:t>
            </a:r>
            <a:endParaRPr lang="en-US" sz="1400" b="1" dirty="0">
              <a:solidFill>
                <a:srgbClr val="000000"/>
              </a:solidFill>
              <a:latin typeface="Times New Roman" panose="02020603050405020304" charset="0"/>
              <a:ea typeface="ADLaM Display" panose="02010000000000000000" pitchFamily="34" charset="-122"/>
              <a:cs typeface="Times New Roman" panose="02020603050405020304" charset="0"/>
            </a:endParaRPr>
          </a:p>
        </p:txBody>
      </p:sp>
      <p:sp>
        <p:nvSpPr>
          <p:cNvPr id="5" name="78f5885c-36aa-4dce-bf78-cd8528700ada"/>
          <p:cNvSpPr/>
          <p:nvPr/>
        </p:nvSpPr>
        <p:spPr>
          <a:xfrm>
            <a:off x="342900" y="800100"/>
            <a:ext cx="8486775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71F8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rPr>
              <a:t>Feature Engineering and Transformation</a:t>
            </a:r>
            <a:endParaRPr lang="en-US" sz="1400" b="1" dirty="0">
              <a:solidFill>
                <a:srgbClr val="7971F8"/>
              </a:solidFill>
              <a:latin typeface="Times New Roman" panose="02020603050405020304" charset="0"/>
              <a:ea typeface="ADLaM Display" panose="02010000000000000000" pitchFamily="34" charset="-122"/>
              <a:cs typeface="Times New Roman" panose="02020603050405020304" charset="0"/>
            </a:endParaRPr>
          </a:p>
        </p:txBody>
      </p:sp>
      <p:sp>
        <p:nvSpPr>
          <p:cNvPr id="6" name="5463f872-380f-4cf2-8f48-12be5f65e0af"/>
          <p:cNvSpPr/>
          <p:nvPr/>
        </p:nvSpPr>
        <p:spPr>
          <a:xfrm>
            <a:off x="342900" y="1085850"/>
            <a:ext cx="8486775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>
                    <a:alpha val="70000"/>
                  </a:srgbClr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rPr>
              <a:t>Programs must transform raw variables into a format suitable for mathematical modeling.</a:t>
            </a:r>
            <a:endParaRPr lang="en-US" sz="1400" dirty="0">
              <a:solidFill>
                <a:srgbClr val="000000">
                  <a:alpha val="70000"/>
                </a:srgbClr>
              </a:solidFill>
              <a:latin typeface="Times New Roman" panose="02020603050405020304" charset="0"/>
              <a:ea typeface="Varela Round" pitchFamily="34" charset="-122"/>
              <a:cs typeface="Times New Roman" panose="02020603050405020304" charset="0"/>
            </a:endParaRPr>
          </a:p>
        </p:txBody>
      </p:sp>
      <p:sp>
        <p:nvSpPr>
          <p:cNvPr id="7" name="e3b9b9ed-f47c-483c-bb46-2ba73bf41cd8"/>
          <p:cNvSpPr/>
          <p:nvPr/>
        </p:nvSpPr>
        <p:spPr>
          <a:xfrm>
            <a:off x="350044" y="1493044"/>
            <a:ext cx="8451056" cy="2364581"/>
          </a:xfrm>
          <a:prstGeom prst="roundRect">
            <a:avLst>
              <a:gd name="adj" fmla="val 391"/>
            </a:avLst>
          </a:prstGeom>
          <a:solidFill>
            <a:srgbClr val="FFFFFF"/>
          </a:solidFill>
        </p:spPr>
      </p:sp>
      <p:graphicFrame>
        <p:nvGraphicFramePr>
          <p:cNvPr id="8" name="e3b9b9ed-f47c-483c-bb46-2ba73bf41cd8"/>
          <p:cNvGraphicFramePr>
            <a:graphicFrameLocks noGrp="1"/>
          </p:cNvGraphicFramePr>
          <p:nvPr/>
        </p:nvGraphicFramePr>
        <p:xfrm>
          <a:off x="350044" y="1493044"/>
          <a:ext cx="8451057" cy="2364580"/>
        </p:xfrm>
        <a:graphic>
          <a:graphicData uri="http://schemas.openxmlformats.org/drawingml/2006/table">
            <a:tbl>
              <a:tblPr/>
              <a:tblGrid>
                <a:gridCol w="1950939"/>
                <a:gridCol w="3313060"/>
                <a:gridCol w="3187058"/>
              </a:tblGrid>
              <a:tr h="472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Varela Round" pitchFamily="34" charset="-122"/>
                          <a:cs typeface="Times New Roman" panose="02020603050405020304" charset="0"/>
                        </a:rPr>
                        <a:t>Technique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Varela Round" pitchFamily="34" charset="-122"/>
                        <a:cs typeface="Times New Roman" panose="02020603050405020304" charset="0"/>
                      </a:endParaRPr>
                    </a:p>
                  </a:txBody>
                  <a:tcPr marL="190500" marR="19050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715" cap="flat" cmpd="sng" algn="ctr">
                      <a:solidFill>
                        <a:srgbClr val="E5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F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Varela Round" pitchFamily="34" charset="-122"/>
                          <a:cs typeface="Times New Roman" panose="02020603050405020304" charset="0"/>
                        </a:rPr>
                        <a:t>Purpose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Varela Round" pitchFamily="34" charset="-122"/>
                        <a:cs typeface="Times New Roman" panose="02020603050405020304" charset="0"/>
                      </a:endParaRPr>
                    </a:p>
                  </a:txBody>
                  <a:tcPr marL="190500" marR="19050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715" cap="flat" cmpd="sng" algn="ctr">
                      <a:solidFill>
                        <a:srgbClr val="E5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F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Varela Round" pitchFamily="34" charset="-122"/>
                          <a:cs typeface="Times New Roman" panose="02020603050405020304" charset="0"/>
                        </a:rPr>
                        <a:t>Common Method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Varela Round" pitchFamily="34" charset="-122"/>
                        <a:cs typeface="Times New Roman" panose="02020603050405020304" charset="0"/>
                      </a:endParaRPr>
                    </a:p>
                  </a:txBody>
                  <a:tcPr marL="190500" marR="19050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715" cap="flat" cmpd="sng" algn="ctr">
                      <a:solidFill>
                        <a:srgbClr val="E58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F7D"/>
                    </a:solidFill>
                  </a:tcPr>
                </a:tc>
              </a:tr>
              <a:tr h="472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Varela Round" pitchFamily="34" charset="-122"/>
                          <a:cs typeface="Times New Roman" panose="02020603050405020304" charset="0"/>
                        </a:rPr>
                        <a:t>Scaling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Varela Round" pitchFamily="34" charset="-122"/>
                        <a:cs typeface="Times New Roman" panose="02020603050405020304" charset="0"/>
                      </a:endParaRPr>
                    </a:p>
                  </a:txBody>
                  <a:tcPr marL="190500" marR="1905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71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Varela Round" pitchFamily="34" charset="-122"/>
                          <a:cs typeface="Times New Roman" panose="02020603050405020304" charset="0"/>
                        </a:rPr>
                        <a:t>Adjusts data to a specific range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Varela Round" pitchFamily="34" charset="-122"/>
                        <a:cs typeface="Times New Roman" panose="02020603050405020304" charset="0"/>
                      </a:endParaRPr>
                    </a:p>
                  </a:txBody>
                  <a:tcPr marL="190500" marR="1905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71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Varela Round" pitchFamily="34" charset="-122"/>
                          <a:cs typeface="Times New Roman" panose="02020603050405020304" charset="0"/>
                        </a:rPr>
                        <a:t>Min-Max Scaling (0 to 1)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Varela Round" pitchFamily="34" charset="-122"/>
                        <a:cs typeface="Times New Roman" panose="02020603050405020304" charset="0"/>
                      </a:endParaRPr>
                    </a:p>
                  </a:txBody>
                  <a:tcPr marL="190500" marR="1905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71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Varela Round" pitchFamily="34" charset="-122"/>
                          <a:cs typeface="Times New Roman" panose="02020603050405020304" charset="0"/>
                        </a:rPr>
                        <a:t>Normalization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Varela Round" pitchFamily="34" charset="-122"/>
                        <a:cs typeface="Times New Roman" panose="02020603050405020304" charset="0"/>
                      </a:endParaRPr>
                    </a:p>
                  </a:txBody>
                  <a:tcPr marL="190500" marR="1905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71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Varela Round" pitchFamily="34" charset="-122"/>
                          <a:cs typeface="Times New Roman" panose="02020603050405020304" charset="0"/>
                        </a:rPr>
                        <a:t>Centers data around a mean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Varela Round" pitchFamily="34" charset="-122"/>
                        <a:cs typeface="Times New Roman" panose="02020603050405020304" charset="0"/>
                      </a:endParaRPr>
                    </a:p>
                  </a:txBody>
                  <a:tcPr marL="190500" marR="1905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71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Varela Round" pitchFamily="34" charset="-122"/>
                          <a:cs typeface="Times New Roman" panose="02020603050405020304" charset="0"/>
                        </a:rPr>
                        <a:t>Z-score Standardization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Varela Round" pitchFamily="34" charset="-122"/>
                        <a:cs typeface="Times New Roman" panose="02020603050405020304" charset="0"/>
                      </a:endParaRPr>
                    </a:p>
                  </a:txBody>
                  <a:tcPr marL="190500" marR="1905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71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2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Varela Round" pitchFamily="34" charset="-122"/>
                          <a:cs typeface="Times New Roman" panose="02020603050405020304" charset="0"/>
                        </a:rPr>
                        <a:t>Encoding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Varela Round" pitchFamily="34" charset="-122"/>
                        <a:cs typeface="Times New Roman" panose="02020603050405020304" charset="0"/>
                      </a:endParaRPr>
                    </a:p>
                  </a:txBody>
                  <a:tcPr marL="190500" marR="1905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71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Varela Round" pitchFamily="34" charset="-122"/>
                          <a:cs typeface="Times New Roman" panose="02020603050405020304" charset="0"/>
                        </a:rPr>
                        <a:t>Converts text to numbers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Varela Round" pitchFamily="34" charset="-122"/>
                        <a:cs typeface="Times New Roman" panose="02020603050405020304" charset="0"/>
                      </a:endParaRPr>
                    </a:p>
                  </a:txBody>
                  <a:tcPr marL="190500" marR="1905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71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Varela Round" pitchFamily="34" charset="-122"/>
                          <a:cs typeface="Times New Roman" panose="02020603050405020304" charset="0"/>
                        </a:rPr>
                        <a:t>One-Hot Encoding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Varela Round" pitchFamily="34" charset="-122"/>
                        <a:cs typeface="Times New Roman" panose="02020603050405020304" charset="0"/>
                      </a:endParaRPr>
                    </a:p>
                  </a:txBody>
                  <a:tcPr marL="190500" marR="1905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715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Varela Round" pitchFamily="34" charset="-122"/>
                          <a:cs typeface="Times New Roman" panose="02020603050405020304" charset="0"/>
                        </a:rPr>
                        <a:t>Binning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Varela Round" pitchFamily="34" charset="-122"/>
                        <a:cs typeface="Times New Roman" panose="02020603050405020304" charset="0"/>
                      </a:endParaRPr>
                    </a:p>
                  </a:txBody>
                  <a:tcPr marL="190500" marR="1905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Varela Round" pitchFamily="34" charset="-122"/>
                          <a:cs typeface="Times New Roman" panose="02020603050405020304" charset="0"/>
                        </a:rPr>
                        <a:t>Groups continuous values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Varela Round" pitchFamily="34" charset="-122"/>
                        <a:cs typeface="Times New Roman" panose="02020603050405020304" charset="0"/>
                      </a:endParaRPr>
                    </a:p>
                  </a:txBody>
                  <a:tcPr marL="190500" marR="1905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Varela Round" pitchFamily="34" charset="-122"/>
                          <a:cs typeface="Times New Roman" panose="02020603050405020304" charset="0"/>
                        </a:rPr>
                        <a:t>Histogram Bucketing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Varela Round" pitchFamily="34" charset="-122"/>
                        <a:cs typeface="Times New Roman" panose="02020603050405020304" charset="0"/>
                      </a:endParaRPr>
                    </a:p>
                  </a:txBody>
                  <a:tcPr marL="190500" marR="1905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4a57164-f2e1-4b4e-b7c4-07164c8f438c"/>
          <p:cNvSpPr/>
          <p:nvPr/>
        </p:nvSpPr>
        <p:spPr>
          <a:xfrm>
            <a:off x="342900" y="342900"/>
            <a:ext cx="8486775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rPr>
              <a:t>Handling Missing and Noisy Data</a:t>
            </a:r>
            <a:endParaRPr lang="en-US" sz="1400" b="1" dirty="0">
              <a:solidFill>
                <a:srgbClr val="000000"/>
              </a:solidFill>
              <a:latin typeface="Times New Roman" panose="02020603050405020304" charset="0"/>
              <a:ea typeface="ADLaM Display" panose="02010000000000000000" pitchFamily="34" charset="-122"/>
              <a:cs typeface="Times New Roman" panose="02020603050405020304" charset="0"/>
            </a:endParaRPr>
          </a:p>
        </p:txBody>
      </p:sp>
      <p:sp>
        <p:nvSpPr>
          <p:cNvPr id="3" name="ff5694f4-c01b-40a2-bb7c-c1cde96d52d5"/>
          <p:cNvSpPr/>
          <p:nvPr/>
        </p:nvSpPr>
        <p:spPr>
          <a:xfrm>
            <a:off x="4572000" y="1028700"/>
            <a:ext cx="7144" cy="377190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489103d4-1e23-4bc4-93e6-7979e6940646"/>
          <p:cNvSpPr/>
          <p:nvPr/>
        </p:nvSpPr>
        <p:spPr>
          <a:xfrm>
            <a:off x="342900" y="1600200"/>
            <a:ext cx="4014788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400" i="1" dirty="0">
                <a:solidFill>
                  <a:srgbClr val="000000">
                    <a:alpha val="70000"/>
                  </a:srgbClr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rPr>
              <a:t>Real-world datasets often have "holes" where information was not recorded.</a:t>
            </a:r>
            <a:endParaRPr lang="en-US" sz="1400" i="1" dirty="0">
              <a:solidFill>
                <a:srgbClr val="000000">
                  <a:alpha val="70000"/>
                </a:srgbClr>
              </a:solidFill>
              <a:latin typeface="Times New Roman" panose="02020603050405020304" charset="0"/>
              <a:ea typeface="Varela Round" pitchFamily="34" charset="-122"/>
              <a:cs typeface="Times New Roman" panose="02020603050405020304" charset="0"/>
            </a:endParaRPr>
          </a:p>
        </p:txBody>
      </p:sp>
      <p:grpSp>
        <p:nvGrpSpPr>
          <p:cNvPr id="31" name="group-NY_So7t2rv_oFytBXgY2x"/>
          <p:cNvGrpSpPr/>
          <p:nvPr/>
        </p:nvGrpSpPr>
        <p:grpSpPr>
          <a:xfrm>
            <a:off x="4792980" y="1423670"/>
            <a:ext cx="4000500" cy="1100138"/>
            <a:chOff x="4800600" y="1600200"/>
            <a:chExt cx="4000500" cy="1100138"/>
          </a:xfrm>
        </p:grpSpPr>
        <p:sp>
          <p:nvSpPr>
            <p:cNvPr id="5" name="16c1eb81-1f9c-4720-8bc4-844c9ff7401e"/>
            <p:cNvSpPr/>
            <p:nvPr/>
          </p:nvSpPr>
          <p:spPr>
            <a:xfrm>
              <a:off x="4800600" y="1600200"/>
              <a:ext cx="4000500" cy="1100138"/>
            </a:xfrm>
            <a:prstGeom prst="roundRect">
              <a:avLst>
                <a:gd name="adj" fmla="val 10390"/>
              </a:avLst>
            </a:prstGeom>
            <a:solidFill>
              <a:srgbClr val="F8F8FF"/>
            </a:solidFill>
            <a:ln w="5715">
              <a:solidFill>
                <a:srgbClr val="F1F1FE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" name="78c849b5-6ad1-4fca-a412-bff61bb2ff95"/>
            <p:cNvSpPr/>
            <p:nvPr/>
          </p:nvSpPr>
          <p:spPr>
            <a:xfrm>
              <a:off x="4979194" y="1778794"/>
              <a:ext cx="3664744" cy="74523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465"/>
                </a:lnSpc>
                <a:buNone/>
              </a:pPr>
              <a:r>
                <a:rPr lang="en-US" sz="1400" dirty="0">
                  <a:solidFill>
                    <a:srgbClr val="000000">
                      <a:alpha val="8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Outliers can skew results and distort visualizations. Detection methods, such as the </a:t>
              </a:r>
              <a:r>
                <a:rPr lang="en-US" sz="1400" b="1" dirty="0">
                  <a:solidFill>
                    <a:srgbClr val="000000">
                      <a:alpha val="8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Interquartile Range (IQR)</a:t>
              </a:r>
              <a:r>
                <a:rPr lang="en-US" sz="1400" dirty="0">
                  <a:solidFill>
                    <a:srgbClr val="000000">
                      <a:alpha val="8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 or </a:t>
              </a:r>
              <a:r>
                <a:rPr lang="en-US" sz="1400" b="1" dirty="0">
                  <a:solidFill>
                    <a:srgbClr val="000000">
                      <a:alpha val="8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Z-score thresholds</a:t>
              </a:r>
              <a:r>
                <a:rPr lang="en-US" sz="1400" dirty="0">
                  <a:solidFill>
                    <a:srgbClr val="000000">
                      <a:alpha val="8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, allow programs to identify and either smooth or remove these anomalies.</a:t>
              </a: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2" name="group-ZdEdTgDqj47LYED-OH7XO"/>
          <p:cNvGrpSpPr/>
          <p:nvPr/>
        </p:nvGrpSpPr>
        <p:grpSpPr>
          <a:xfrm>
            <a:off x="4800600" y="4371975"/>
            <a:ext cx="4000500" cy="428625"/>
            <a:chOff x="4800600" y="4371975"/>
            <a:chExt cx="4000500" cy="428625"/>
          </a:xfrm>
        </p:grpSpPr>
        <p:sp>
          <p:nvSpPr>
            <p:cNvPr id="6" name="d612ab12-e6b0-4c1c-8411-ef71cc997997"/>
            <p:cNvSpPr/>
            <p:nvPr/>
          </p:nvSpPr>
          <p:spPr>
            <a:xfrm>
              <a:off x="4800600" y="4371975"/>
              <a:ext cx="4000500" cy="428625"/>
            </a:xfrm>
            <a:prstGeom prst="roundRect">
              <a:avLst>
                <a:gd name="adj" fmla="val 20000"/>
              </a:avLst>
            </a:prstGeom>
            <a:solidFill>
              <a:srgbClr val="000000"/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" name="039197c9-dbe5-42ae-980e-a5e9cdcc96d5"/>
            <p:cNvSpPr/>
            <p:nvPr/>
          </p:nvSpPr>
          <p:spPr>
            <a:xfrm>
              <a:off x="4914900" y="4486275"/>
              <a:ext cx="3800475" cy="200025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Times New Roman" panose="02020603050405020304" charset="0"/>
                  <a:ea typeface="ADLaM Display" panose="02010000000000000000" pitchFamily="34" charset="-122"/>
                  <a:cs typeface="Times New Roman" panose="02020603050405020304" charset="0"/>
                </a:rPr>
                <a:t>Maintain Data Integrity</a:t>
              </a:r>
              <a:endParaRPr lang="en-US" sz="1400" dirty="0">
                <a:solidFill>
                  <a:srgbClr val="FFFFFF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endParaRPr>
            </a:p>
          </p:txBody>
        </p:sp>
      </p:grpSp>
      <p:grpSp>
        <p:nvGrpSpPr>
          <p:cNvPr id="29" name="group-W4SQ4c9KWRcKBcyH5VWho"/>
          <p:cNvGrpSpPr/>
          <p:nvPr/>
        </p:nvGrpSpPr>
        <p:grpSpPr>
          <a:xfrm>
            <a:off x="342900" y="1028700"/>
            <a:ext cx="342900" cy="342900"/>
            <a:chOff x="342900" y="1028700"/>
            <a:chExt cx="342900" cy="342900"/>
          </a:xfrm>
        </p:grpSpPr>
        <p:sp>
          <p:nvSpPr>
            <p:cNvPr id="7" name="slidesai_kJB2U25s::icon-4"/>
            <p:cNvSpPr/>
            <p:nvPr/>
          </p:nvSpPr>
          <p:spPr>
            <a:xfrm>
              <a:off x="342900" y="1028700"/>
              <a:ext cx="342900" cy="342900"/>
            </a:xfrm>
            <a:prstGeom prst="roundRect">
              <a:avLst>
                <a:gd name="adj" fmla="val 16667"/>
              </a:avLst>
            </a:prstGeom>
            <a:solidFill>
              <a:srgbClr val="FFE9E5"/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13" name="ecf37572-6f0a-41cc-9de7-150a2700bac9" descr="preencoded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28625" y="1114425"/>
              <a:ext cx="171450" cy="171450"/>
            </a:xfrm>
            <a:prstGeom prst="rect">
              <a:avLst/>
            </a:prstGeom>
          </p:spPr>
        </p:pic>
      </p:grpSp>
      <p:sp>
        <p:nvSpPr>
          <p:cNvPr id="8" name="81e8ea47-61fe-4aa0-ba52-5b6e9af6fbb5"/>
          <p:cNvSpPr/>
          <p:nvPr/>
        </p:nvSpPr>
        <p:spPr>
          <a:xfrm>
            <a:off x="800100" y="1071563"/>
            <a:ext cx="2312824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rPr>
              <a:t>Addressing Data Gaps</a:t>
            </a:r>
            <a:endParaRPr lang="en-US" sz="1400" b="1" dirty="0">
              <a:solidFill>
                <a:srgbClr val="000000"/>
              </a:solidFill>
              <a:latin typeface="Times New Roman" panose="02020603050405020304" charset="0"/>
              <a:ea typeface="ADLaM Display" panose="02010000000000000000" pitchFamily="34" charset="-122"/>
              <a:cs typeface="Times New Roman" panose="02020603050405020304" charset="0"/>
            </a:endParaRPr>
          </a:p>
        </p:txBody>
      </p:sp>
      <p:grpSp>
        <p:nvGrpSpPr>
          <p:cNvPr id="30" name="group-euU0ysw64sYe7pCxY26tD"/>
          <p:cNvGrpSpPr/>
          <p:nvPr/>
        </p:nvGrpSpPr>
        <p:grpSpPr>
          <a:xfrm>
            <a:off x="4800600" y="1028700"/>
            <a:ext cx="342900" cy="342900"/>
            <a:chOff x="4800600" y="1028700"/>
            <a:chExt cx="342900" cy="342900"/>
          </a:xfrm>
        </p:grpSpPr>
        <p:sp>
          <p:nvSpPr>
            <p:cNvPr id="9" name="slidesai_kJB2U25s::icon-5"/>
            <p:cNvSpPr/>
            <p:nvPr/>
          </p:nvSpPr>
          <p:spPr>
            <a:xfrm>
              <a:off x="4800600" y="1028700"/>
              <a:ext cx="342900" cy="342900"/>
            </a:xfrm>
            <a:prstGeom prst="roundRect">
              <a:avLst>
                <a:gd name="adj" fmla="val 16667"/>
              </a:avLst>
            </a:prstGeom>
            <a:solidFill>
              <a:srgbClr val="E4E3FE"/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17" name="a8f4a045-d0c2-42ad-909d-d11af2e67a13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86325" y="1114425"/>
              <a:ext cx="171450" cy="171450"/>
            </a:xfrm>
            <a:prstGeom prst="rect">
              <a:avLst/>
            </a:prstGeom>
          </p:spPr>
        </p:pic>
      </p:grpSp>
      <p:sp>
        <p:nvSpPr>
          <p:cNvPr id="10" name="309572f2-2fd4-4cee-a816-6b38d50adac2"/>
          <p:cNvSpPr/>
          <p:nvPr/>
        </p:nvSpPr>
        <p:spPr>
          <a:xfrm>
            <a:off x="5257800" y="1071563"/>
            <a:ext cx="1958601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rPr>
              <a:t>Noise and Outliers</a:t>
            </a:r>
            <a:endParaRPr lang="en-US" sz="1400" b="1" dirty="0">
              <a:solidFill>
                <a:srgbClr val="000000"/>
              </a:solidFill>
              <a:latin typeface="Times New Roman" panose="02020603050405020304" charset="0"/>
              <a:ea typeface="ADLaM Display" panose="02010000000000000000" pitchFamily="34" charset="-122"/>
              <a:cs typeface="Times New Roman" panose="02020603050405020304" charset="0"/>
            </a:endParaRPr>
          </a:p>
        </p:txBody>
      </p:sp>
      <p:grpSp>
        <p:nvGrpSpPr>
          <p:cNvPr id="26" name="group-9ZrTKo-00jLl9NHrhcr5S"/>
          <p:cNvGrpSpPr/>
          <p:nvPr/>
        </p:nvGrpSpPr>
        <p:grpSpPr>
          <a:xfrm>
            <a:off x="342900" y="2185988"/>
            <a:ext cx="3479595" cy="507682"/>
            <a:chOff x="342900" y="2185988"/>
            <a:chExt cx="3479595" cy="507682"/>
          </a:xfrm>
        </p:grpSpPr>
        <p:sp>
          <p:nvSpPr>
            <p:cNvPr id="14" name="13d468bf-d8e0-48da-8370-c674d5135a41"/>
            <p:cNvSpPr/>
            <p:nvPr/>
          </p:nvSpPr>
          <p:spPr>
            <a:xfrm>
              <a:off x="342900" y="2243138"/>
              <a:ext cx="57150" cy="57150"/>
            </a:xfrm>
            <a:prstGeom prst="ellipse">
              <a:avLst/>
            </a:prstGeom>
            <a:solidFill>
              <a:srgbClr val="FF8F7D"/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" name="aff46557-0f3b-4268-b190-775e514f9b4f"/>
            <p:cNvSpPr/>
            <p:nvPr/>
          </p:nvSpPr>
          <p:spPr>
            <a:xfrm>
              <a:off x="514350" y="2185988"/>
              <a:ext cx="553897" cy="14287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Deletion:</a:t>
              </a:r>
              <a:endParaRPr lang="en-US" sz="1400" b="1" dirty="0">
                <a:solidFill>
                  <a:srgbClr val="000000"/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  <p:sp>
          <p:nvSpPr>
            <p:cNvPr id="19" name="908d5eab-60a3-44ad-8c02-49bd5edb5708"/>
            <p:cNvSpPr/>
            <p:nvPr/>
          </p:nvSpPr>
          <p:spPr>
            <a:xfrm>
              <a:off x="463550" y="2550795"/>
              <a:ext cx="3358945" cy="142875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000000">
                      <a:alpha val="6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Removing rows/columns with missing values (best for large datasets).</a:t>
              </a:r>
              <a:endParaRPr lang="en-US" sz="1400" dirty="0">
                <a:solidFill>
                  <a:srgbClr val="000000">
                    <a:alpha val="60000"/>
                  </a:srgbClr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</p:grpSp>
      <p:grpSp>
        <p:nvGrpSpPr>
          <p:cNvPr id="27" name="group-0xA7vDAFi4b0ScaQJ2ysl"/>
          <p:cNvGrpSpPr/>
          <p:nvPr/>
        </p:nvGrpSpPr>
        <p:grpSpPr>
          <a:xfrm>
            <a:off x="259715" y="3143568"/>
            <a:ext cx="3560259" cy="374967"/>
            <a:chOff x="342900" y="2671763"/>
            <a:chExt cx="3560259" cy="374967"/>
          </a:xfrm>
        </p:grpSpPr>
        <p:sp>
          <p:nvSpPr>
            <p:cNvPr id="15" name="d589a82b-936a-4787-94fb-eb18df455e6f"/>
            <p:cNvSpPr/>
            <p:nvPr/>
          </p:nvSpPr>
          <p:spPr>
            <a:xfrm>
              <a:off x="342900" y="2728913"/>
              <a:ext cx="57150" cy="57150"/>
            </a:xfrm>
            <a:prstGeom prst="ellipse">
              <a:avLst/>
            </a:prstGeom>
            <a:solidFill>
              <a:srgbClr val="FF8F7D"/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0" name="d1712fe7-7eec-4f50-b584-6f51874c2e81"/>
            <p:cNvSpPr/>
            <p:nvPr/>
          </p:nvSpPr>
          <p:spPr>
            <a:xfrm>
              <a:off x="514350" y="2671763"/>
              <a:ext cx="697001" cy="14287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Imputation:</a:t>
              </a:r>
              <a:endParaRPr lang="en-US" sz="1400" b="1" dirty="0">
                <a:solidFill>
                  <a:srgbClr val="000000"/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  <a:p>
              <a:pPr marL="0" indent="0">
                <a:lnSpc>
                  <a:spcPts val="1350"/>
                </a:lnSpc>
                <a:buNone/>
              </a:pPr>
              <a:endParaRPr lang="en-US" sz="1400" b="1" dirty="0">
                <a:solidFill>
                  <a:srgbClr val="000000"/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  <a:p>
              <a:pPr marL="0" indent="0">
                <a:lnSpc>
                  <a:spcPts val="1350"/>
                </a:lnSpc>
                <a:buNone/>
              </a:pPr>
              <a:endParaRPr lang="en-US" sz="1400" b="1" dirty="0">
                <a:solidFill>
                  <a:srgbClr val="000000"/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  <p:sp>
          <p:nvSpPr>
            <p:cNvPr id="21" name="c4420da0-5219-4e71-ab2f-61654d30a65c"/>
            <p:cNvSpPr/>
            <p:nvPr/>
          </p:nvSpPr>
          <p:spPr>
            <a:xfrm>
              <a:off x="511810" y="2903855"/>
              <a:ext cx="3391349" cy="142875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000000">
                      <a:alpha val="6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Filling gaps using statistical measures like the mean, median, or mode.</a:t>
              </a:r>
              <a:endParaRPr lang="en-US" sz="1400" dirty="0">
                <a:solidFill>
                  <a:srgbClr val="000000">
                    <a:alpha val="60000"/>
                  </a:srgbClr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</p:grpSp>
      <p:grpSp>
        <p:nvGrpSpPr>
          <p:cNvPr id="28" name="group-7IdeSkYA7vZMjpOPtMupp"/>
          <p:cNvGrpSpPr/>
          <p:nvPr/>
        </p:nvGrpSpPr>
        <p:grpSpPr>
          <a:xfrm>
            <a:off x="342900" y="3972243"/>
            <a:ext cx="3408180" cy="456882"/>
            <a:chOff x="342900" y="3157538"/>
            <a:chExt cx="3408180" cy="456882"/>
          </a:xfrm>
        </p:grpSpPr>
        <p:sp>
          <p:nvSpPr>
            <p:cNvPr id="16" name="4d92ee82-915c-4f0f-aa49-5af907ddafac"/>
            <p:cNvSpPr/>
            <p:nvPr/>
          </p:nvSpPr>
          <p:spPr>
            <a:xfrm>
              <a:off x="342900" y="3214688"/>
              <a:ext cx="57150" cy="57150"/>
            </a:xfrm>
            <a:prstGeom prst="ellipse">
              <a:avLst/>
            </a:prstGeom>
            <a:solidFill>
              <a:srgbClr val="FF8F7D"/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2" name="bad866b4-30e0-4480-a076-991f56be47cc"/>
            <p:cNvSpPr/>
            <p:nvPr/>
          </p:nvSpPr>
          <p:spPr>
            <a:xfrm>
              <a:off x="514350" y="3157538"/>
              <a:ext cx="1255699" cy="14287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Advanced Estimation:</a:t>
              </a:r>
              <a:endParaRPr lang="en-US" sz="1400" b="1" dirty="0">
                <a:solidFill>
                  <a:srgbClr val="000000"/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  <p:sp>
          <p:nvSpPr>
            <p:cNvPr id="23" name="f9aa1453-8961-4700-966f-ff5482607ae5"/>
            <p:cNvSpPr/>
            <p:nvPr/>
          </p:nvSpPr>
          <p:spPr>
            <a:xfrm>
              <a:off x="514350" y="3471545"/>
              <a:ext cx="3236730" cy="142875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000000">
                      <a:alpha val="6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Using regression or K-Nearest Neighbors to predict missing values.</a:t>
              </a:r>
              <a:endParaRPr lang="en-US" sz="1400" dirty="0">
                <a:solidFill>
                  <a:srgbClr val="000000">
                    <a:alpha val="60000"/>
                  </a:srgbClr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tmFilter="0,0; 0.25,0.578; 0.5,0.875; 0.75,0.984; 1,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tmFilter="0,0; 0.25,0.578; 0.5,0.875; 0.75,0.984; 1,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tmFilter="0,0; 0.25,0.578; 0.5,0.875; 0.75,0.984; 1,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tmFilter="0,0; 0.25,0.578; 0.5,0.875; 0.75,0.984; 1,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tmFilter="0,0; 0.25,0.578; 0.5,0.875; 0.75,0.984; 1,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tmFilter="0,0; 0.25,0.578; 0.5,0.875; 0.75,0.984; 1,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tmFilter="0,0; 0.25,0.578; 0.5,0.875; 0.75,0.984; 1,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00" tmFilter="0,0; 0.25,0.578; 0.5,0.875; 0.75,0.984; 1,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00" tmFilter="0,0; 0.25,0.578; 0.5,0.875; 0.75,0.984; 1,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00" tmFilter="0,0; 0.25,0.578; 0.5,0.875; 0.75,0.984; 1,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tmFilter="0,0; 0.25,0.578; 0.5,0.875; 0.75,0.984; 1,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tmFilter="0,0; 0.25,0.578; 0.5,0.875; 0.75,0.984; 1,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00" tmFilter="0,0; 0.25,0.578; 0.5,0.875; 0.75,0.984; 1,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tmFilter="0,0; 0.25,0.578; 0.5,0.875; 0.75,0.984; 1,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00" tmFilter="0,0; 0.25,0.578; 0.5,0.875; 0.75,0.984; 1,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600" tmFilter="0,0; 0.25,0.578; 0.5,0.875; 0.75,0.984; 1,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8" grpId="0"/>
      <p:bldP spid="10" grpId="0"/>
      <p:bldP spid="26" grpId="0" bldLvl="0" animBg="1"/>
      <p:bldP spid="27" grpId="0" bldLvl="0" animBg="1"/>
      <p:bldP spid="28" grpId="0" bldLvl="0" animBg="1"/>
      <p:bldP spid="29" grpId="0"/>
      <p:bldP spid="30" grpId="0"/>
      <p:bldP spid="31" grpId="0" bldLvl="0" animBg="1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d0ce2f0-e798-4a39-86dd-2700e2b91051"/>
          <p:cNvSpPr/>
          <p:nvPr/>
        </p:nvSpPr>
        <p:spPr>
          <a:xfrm>
            <a:off x="1264444" y="342900"/>
            <a:ext cx="6684652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rPr>
              <a:t>Principles of Effective Data Visualization</a:t>
            </a:r>
            <a:endParaRPr lang="en-US" sz="1400" b="1" dirty="0">
              <a:solidFill>
                <a:srgbClr val="000000"/>
              </a:solidFill>
              <a:latin typeface="Times New Roman" panose="02020603050405020304" charset="0"/>
              <a:ea typeface="ADLaM Display" panose="02010000000000000000" pitchFamily="34" charset="-122"/>
              <a:cs typeface="Times New Roman" panose="02020603050405020304" charset="0"/>
            </a:endParaRPr>
          </a:p>
        </p:txBody>
      </p:sp>
      <p:sp>
        <p:nvSpPr>
          <p:cNvPr id="3" name="afc7f6b7-0df2-48cd-852c-53955b0985d9"/>
          <p:cNvSpPr/>
          <p:nvPr/>
        </p:nvSpPr>
        <p:spPr>
          <a:xfrm>
            <a:off x="1828800" y="800100"/>
            <a:ext cx="5500688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400" dirty="0">
                <a:solidFill>
                  <a:srgbClr val="000000">
                    <a:alpha val="60000"/>
                  </a:srgbClr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rPr>
              <a:t>Data visualization is the graphical representation of information. Its goal is to communicate complex patterns clearly and efficiently.</a:t>
            </a:r>
            <a:endParaRPr lang="en-US" sz="1400" dirty="0">
              <a:solidFill>
                <a:srgbClr val="000000">
                  <a:alpha val="60000"/>
                </a:srgbClr>
              </a:solidFill>
              <a:latin typeface="Times New Roman" panose="02020603050405020304" charset="0"/>
              <a:ea typeface="Varela Round" pitchFamily="34" charset="-122"/>
              <a:cs typeface="Times New Roman" panose="02020603050405020304" charset="0"/>
            </a:endParaRPr>
          </a:p>
        </p:txBody>
      </p:sp>
      <p:grpSp>
        <p:nvGrpSpPr>
          <p:cNvPr id="22" name="group-sNvPMb94hO_OB5fNk7QW8"/>
          <p:cNvGrpSpPr/>
          <p:nvPr/>
        </p:nvGrpSpPr>
        <p:grpSpPr>
          <a:xfrm>
            <a:off x="1000125" y="1543050"/>
            <a:ext cx="3457575" cy="1685925"/>
            <a:chOff x="1000125" y="1543050"/>
            <a:chExt cx="3457575" cy="1685925"/>
          </a:xfrm>
        </p:grpSpPr>
        <p:sp>
          <p:nvSpPr>
            <p:cNvPr id="4" name="05360c97-9163-46d4-a732-31d7d5294660"/>
            <p:cNvSpPr/>
            <p:nvPr/>
          </p:nvSpPr>
          <p:spPr>
            <a:xfrm>
              <a:off x="1000125" y="1543050"/>
              <a:ext cx="3457575" cy="1685925"/>
            </a:xfrm>
            <a:prstGeom prst="roundRect">
              <a:avLst>
                <a:gd name="adj" fmla="val 13559"/>
              </a:avLst>
            </a:prstGeom>
            <a:solidFill>
              <a:srgbClr val="FFFFFF"/>
            </a:solidFill>
            <a:ln w="11430">
              <a:solidFill>
                <a:srgbClr val="FFE9E5"/>
              </a:solidFill>
            </a:ln>
            <a:effectLst>
              <a:outerShdw blurRad="25400" dist="12700" dir="5400000" algn="bl" rotWithShape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8" name="slidesai_H1emXWZR::icon-6" descr="preencoded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00313" y="1785938"/>
              <a:ext cx="457200" cy="457200"/>
            </a:xfrm>
            <a:prstGeom prst="rect">
              <a:avLst/>
            </a:prstGeom>
          </p:spPr>
        </p:pic>
        <p:sp>
          <p:nvSpPr>
            <p:cNvPr id="9" name="c4ec0645-4aa2-45f0-9812-76dfc2fb2cf0"/>
            <p:cNvSpPr/>
            <p:nvPr/>
          </p:nvSpPr>
          <p:spPr>
            <a:xfrm>
              <a:off x="2438586" y="2357438"/>
              <a:ext cx="609228" cy="228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ADLaM Display" panose="02010000000000000000" pitchFamily="34" charset="-122"/>
                  <a:cs typeface="Times New Roman" panose="02020603050405020304" charset="0"/>
                </a:rPr>
                <a:t>Clarity</a:t>
              </a:r>
              <a:endParaRPr lang="en-US" sz="1400" b="1" dirty="0">
                <a:solidFill>
                  <a:srgbClr val="0000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endParaRPr>
            </a:p>
          </p:txBody>
        </p:sp>
        <p:sp>
          <p:nvSpPr>
            <p:cNvPr id="10" name="bc7b1195-0bff-4586-aa45-3192b16dfc93"/>
            <p:cNvSpPr/>
            <p:nvPr/>
          </p:nvSpPr>
          <p:spPr>
            <a:xfrm>
              <a:off x="1243013" y="2643187"/>
              <a:ext cx="2993231" cy="3429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400" dirty="0">
                  <a:solidFill>
                    <a:srgbClr val="000000">
                      <a:alpha val="7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Remove "chart junk"—unnecessary gridlines or decorations that distract.</a:t>
              </a:r>
              <a:endParaRPr lang="en-US" sz="1400" dirty="0">
                <a:solidFill>
                  <a:srgbClr val="000000">
                    <a:alpha val="70000"/>
                  </a:srgbClr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</p:grpSp>
      <p:grpSp>
        <p:nvGrpSpPr>
          <p:cNvPr id="23" name="group-l6tpF9CxSHz7Eb8wR4D4y"/>
          <p:cNvGrpSpPr/>
          <p:nvPr/>
        </p:nvGrpSpPr>
        <p:grpSpPr>
          <a:xfrm>
            <a:off x="4686300" y="1543050"/>
            <a:ext cx="3457575" cy="1685925"/>
            <a:chOff x="4686300" y="1543050"/>
            <a:chExt cx="3457575" cy="1685925"/>
          </a:xfrm>
        </p:grpSpPr>
        <p:sp>
          <p:nvSpPr>
            <p:cNvPr id="5" name="ede52af0-8582-492c-9000-a2b0ccf1740a"/>
            <p:cNvSpPr/>
            <p:nvPr/>
          </p:nvSpPr>
          <p:spPr>
            <a:xfrm>
              <a:off x="4686300" y="1543050"/>
              <a:ext cx="3457575" cy="1685925"/>
            </a:xfrm>
            <a:prstGeom prst="roundRect">
              <a:avLst>
                <a:gd name="adj" fmla="val 13559"/>
              </a:avLst>
            </a:prstGeom>
            <a:solidFill>
              <a:srgbClr val="FFFFFF"/>
            </a:solidFill>
            <a:ln w="11430">
              <a:solidFill>
                <a:srgbClr val="E4E3FE"/>
              </a:solidFill>
            </a:ln>
            <a:effectLst>
              <a:outerShdw blurRad="25400" dist="12700" dir="5400000" algn="bl" rotWithShape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11" name="slidesai_H1emXWZR::icon-7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86488" y="1785938"/>
              <a:ext cx="457200" cy="457200"/>
            </a:xfrm>
            <a:prstGeom prst="rect">
              <a:avLst/>
            </a:prstGeom>
          </p:spPr>
        </p:pic>
        <p:sp>
          <p:nvSpPr>
            <p:cNvPr id="12" name="3f98dabb-60cb-4c3f-afa0-694cbe5398df"/>
            <p:cNvSpPr/>
            <p:nvPr/>
          </p:nvSpPr>
          <p:spPr>
            <a:xfrm>
              <a:off x="6024260" y="2357438"/>
              <a:ext cx="810230" cy="228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ADLaM Display" panose="02010000000000000000" pitchFamily="34" charset="-122"/>
                  <a:cs typeface="Times New Roman" panose="02020603050405020304" charset="0"/>
                </a:rPr>
                <a:t>Accuracy</a:t>
              </a:r>
              <a:endParaRPr lang="en-US" sz="1400" b="1" dirty="0">
                <a:solidFill>
                  <a:srgbClr val="0000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endParaRPr>
            </a:p>
          </p:txBody>
        </p:sp>
        <p:sp>
          <p:nvSpPr>
            <p:cNvPr id="13" name="9ddbe36b-0a1b-4315-9a4b-31cf7454721a"/>
            <p:cNvSpPr/>
            <p:nvPr/>
          </p:nvSpPr>
          <p:spPr>
            <a:xfrm>
              <a:off x="4929188" y="2643187"/>
              <a:ext cx="2993231" cy="3429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400" dirty="0">
                  <a:solidFill>
                    <a:srgbClr val="000000">
                      <a:alpha val="7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Ensure scales are not misleading (e.g., starting the Y-axis at zero).</a:t>
              </a:r>
              <a:endParaRPr lang="en-US" sz="1400" dirty="0">
                <a:solidFill>
                  <a:srgbClr val="000000">
                    <a:alpha val="70000"/>
                  </a:srgbClr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</p:grpSp>
      <p:grpSp>
        <p:nvGrpSpPr>
          <p:cNvPr id="24" name="group-UL4HQzFlg9dkMf3NA9py7"/>
          <p:cNvGrpSpPr/>
          <p:nvPr/>
        </p:nvGrpSpPr>
        <p:grpSpPr>
          <a:xfrm>
            <a:off x="1000125" y="3450431"/>
            <a:ext cx="3457575" cy="1685925"/>
            <a:chOff x="1000125" y="3450431"/>
            <a:chExt cx="3457575" cy="1685925"/>
          </a:xfrm>
        </p:grpSpPr>
        <p:sp>
          <p:nvSpPr>
            <p:cNvPr id="6" name="a6430965-2587-41ab-b84b-0598fd89d4d7"/>
            <p:cNvSpPr/>
            <p:nvPr/>
          </p:nvSpPr>
          <p:spPr>
            <a:xfrm>
              <a:off x="1000125" y="3450431"/>
              <a:ext cx="3457575" cy="1685925"/>
            </a:xfrm>
            <a:prstGeom prst="roundRect">
              <a:avLst>
                <a:gd name="adj" fmla="val 13559"/>
              </a:avLst>
            </a:prstGeom>
            <a:solidFill>
              <a:srgbClr val="FFFFFF"/>
            </a:solidFill>
            <a:ln w="11430">
              <a:solidFill>
                <a:srgbClr val="E9F6FD"/>
              </a:solidFill>
            </a:ln>
            <a:effectLst>
              <a:outerShdw blurRad="25400" dist="12700" dir="5400000" algn="bl" rotWithShape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14" name="slidesai_H1emXWZR::icon-8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0313" y="3693319"/>
              <a:ext cx="457200" cy="457200"/>
            </a:xfrm>
            <a:prstGeom prst="rect">
              <a:avLst/>
            </a:prstGeom>
          </p:spPr>
        </p:pic>
        <p:sp>
          <p:nvSpPr>
            <p:cNvPr id="15" name="bb42cde5-e6c5-4e69-a0e3-bcba7501dbb3"/>
            <p:cNvSpPr/>
            <p:nvPr/>
          </p:nvSpPr>
          <p:spPr>
            <a:xfrm>
              <a:off x="2093216" y="4264819"/>
              <a:ext cx="1299967" cy="228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ADLaM Display" panose="02010000000000000000" pitchFamily="34" charset="-122"/>
                  <a:cs typeface="Times New Roman" panose="02020603050405020304" charset="0"/>
                </a:rPr>
                <a:t>Cognitive Load</a:t>
              </a:r>
              <a:endParaRPr lang="en-US" sz="1400" b="1" dirty="0">
                <a:solidFill>
                  <a:srgbClr val="0000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endParaRPr>
            </a:p>
          </p:txBody>
        </p:sp>
        <p:sp>
          <p:nvSpPr>
            <p:cNvPr id="16" name="a2284cd6-3096-48f2-aeb9-4419c8b78651"/>
            <p:cNvSpPr/>
            <p:nvPr/>
          </p:nvSpPr>
          <p:spPr>
            <a:xfrm>
              <a:off x="1243013" y="4550569"/>
              <a:ext cx="2993231" cy="3429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400" dirty="0">
                  <a:solidFill>
                    <a:srgbClr val="000000">
                      <a:alpha val="7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Minimize mental effort using intuitive colors and labels.</a:t>
              </a:r>
              <a:endParaRPr lang="en-US" sz="1400" dirty="0">
                <a:solidFill>
                  <a:srgbClr val="000000">
                    <a:alpha val="70000"/>
                  </a:srgbClr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</p:grpSp>
      <p:grpSp>
        <p:nvGrpSpPr>
          <p:cNvPr id="25" name="group-KKV0dzz969iZAUj5t7Fcv"/>
          <p:cNvGrpSpPr/>
          <p:nvPr/>
        </p:nvGrpSpPr>
        <p:grpSpPr>
          <a:xfrm>
            <a:off x="4686300" y="3450431"/>
            <a:ext cx="3457575" cy="1685925"/>
            <a:chOff x="4686300" y="3450431"/>
            <a:chExt cx="3457575" cy="1685925"/>
          </a:xfrm>
        </p:grpSpPr>
        <p:sp>
          <p:nvSpPr>
            <p:cNvPr id="7" name="16cb158a-4857-4fc8-a444-0939fba17795"/>
            <p:cNvSpPr/>
            <p:nvPr/>
          </p:nvSpPr>
          <p:spPr>
            <a:xfrm>
              <a:off x="4686300" y="3450431"/>
              <a:ext cx="3457575" cy="1685925"/>
            </a:xfrm>
            <a:prstGeom prst="roundRect">
              <a:avLst>
                <a:gd name="adj" fmla="val 13559"/>
              </a:avLst>
            </a:prstGeom>
            <a:solidFill>
              <a:srgbClr val="000000"/>
            </a:solidFill>
            <a:effectLst>
              <a:outerShdw blurRad="177800" dist="139700" dir="5400000" algn="bl" rotWithShape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17" name="slidesai_H1emXWZR::icon-9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86488" y="3679031"/>
              <a:ext cx="457200" cy="457200"/>
            </a:xfrm>
            <a:prstGeom prst="rect">
              <a:avLst/>
            </a:prstGeom>
          </p:spPr>
        </p:pic>
        <p:sp>
          <p:nvSpPr>
            <p:cNvPr id="18" name="225ce1f7-6058-4877-828d-6737f9e1385b"/>
            <p:cNvSpPr/>
            <p:nvPr/>
          </p:nvSpPr>
          <p:spPr>
            <a:xfrm>
              <a:off x="6043613" y="4250531"/>
              <a:ext cx="778669" cy="228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Times New Roman" panose="02020603050405020304" charset="0"/>
                  <a:ea typeface="ADLaM Display" panose="02010000000000000000" pitchFamily="34" charset="-122"/>
                  <a:cs typeface="Times New Roman" panose="02020603050405020304" charset="0"/>
                </a:rPr>
                <a:t>Integrity</a:t>
              </a:r>
              <a:endParaRPr lang="en-US" sz="1400" b="1" dirty="0">
                <a:solidFill>
                  <a:srgbClr val="FFFFFF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endParaRPr>
            </a:p>
          </p:txBody>
        </p:sp>
        <p:sp>
          <p:nvSpPr>
            <p:cNvPr id="19" name="093f60db-c8be-423d-863a-579203b75d26"/>
            <p:cNvSpPr/>
            <p:nvPr/>
          </p:nvSpPr>
          <p:spPr>
            <a:xfrm>
              <a:off x="4914900" y="4536281"/>
              <a:ext cx="3014663" cy="3429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400" dirty="0">
                  <a:solidFill>
                    <a:srgbClr val="FFFFFF">
                      <a:alpha val="70000"/>
                    </a:srgbClr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The visual must be a faithful reflection of the pre-processed numbers.</a:t>
              </a:r>
              <a:endParaRPr lang="en-US" sz="1400" dirty="0">
                <a:solidFill>
                  <a:srgbClr val="FFFFFF">
                    <a:alpha val="70000"/>
                  </a:srgbClr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tmFilter="0,0; 0.25,0.578; 0.5,0.875; 0.75,0.984; 1,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tmFilter="0,0; 0.25,0.578; 0.5,0.875; 0.75,0.984; 1,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tmFilter="0,0; 0.25,0.578; 0.5,0.875; 0.75,0.984; 1,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tmFilter="0,0; 0.25,0.578; 0.5,0.875; 0.75,0.984; 1,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tmFilter="0,0; 0.25,0.578; 0.5,0.875; 0.75,0.984; 1,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tmFilter="0,0; 0.25,0.578; 0.5,0.875; 0.75,0.984; 1,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tmFilter="0,0; 0.25,0.578; 0.5,0.875; 0.75,0.984; 1,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tmFilter="0,0; 0.25,0.578; 0.5,0.875; 0.75,0.984; 1,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tmFilter="0,0; 0.25,0.578; 0.5,0.875; 0.75,0.984; 1,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tmFilter="0,0; 0.25,0.578; 0.5,0.875; 0.75,0.984; 1,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22" grpId="0"/>
      <p:bldP spid="23" grpId="0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5c94e9b-e20e-4053-9633-982a99040ca2"/>
          <p:cNvSpPr/>
          <p:nvPr/>
        </p:nvSpPr>
        <p:spPr>
          <a:xfrm>
            <a:off x="342900" y="342900"/>
            <a:ext cx="8486775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rPr>
              <a:t>Selecting the Right Chart Types</a:t>
            </a:r>
            <a:endParaRPr lang="en-US" sz="1400" b="1" dirty="0">
              <a:solidFill>
                <a:srgbClr val="000000"/>
              </a:solidFill>
              <a:latin typeface="Times New Roman" panose="02020603050405020304" charset="0"/>
              <a:ea typeface="ADLaM Display" panose="02010000000000000000" pitchFamily="34" charset="-122"/>
              <a:cs typeface="Times New Roman" panose="02020603050405020304" charset="0"/>
            </a:endParaRPr>
          </a:p>
        </p:txBody>
      </p:sp>
      <p:grpSp>
        <p:nvGrpSpPr>
          <p:cNvPr id="25" name="group-fb3CeU4eNRlgW6xPr6KGF"/>
          <p:cNvGrpSpPr/>
          <p:nvPr/>
        </p:nvGrpSpPr>
        <p:grpSpPr>
          <a:xfrm>
            <a:off x="342900" y="1028700"/>
            <a:ext cx="4793456" cy="3771900"/>
            <a:chOff x="342900" y="1028700"/>
            <a:chExt cx="4793456" cy="3771900"/>
          </a:xfrm>
        </p:grpSpPr>
        <p:sp>
          <p:nvSpPr>
            <p:cNvPr id="3" name="b1727779-2e7b-4d13-b4a6-798bb9e7ce4a"/>
            <p:cNvSpPr/>
            <p:nvPr/>
          </p:nvSpPr>
          <p:spPr>
            <a:xfrm>
              <a:off x="342900" y="1028700"/>
              <a:ext cx="4793456" cy="3771900"/>
            </a:xfrm>
            <a:prstGeom prst="roundRect">
              <a:avLst>
                <a:gd name="adj" fmla="val 7576"/>
              </a:avLst>
            </a:prstGeom>
            <a:solidFill>
              <a:srgbClr val="F2F2F2"/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" name="b451e4d6-efac-4098-8bc7-aa7a1a7d6f46"/>
            <p:cNvSpPr/>
            <p:nvPr/>
          </p:nvSpPr>
          <p:spPr>
            <a:xfrm>
              <a:off x="571500" y="1257300"/>
              <a:ext cx="4364831" cy="228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ADLaM Display" panose="02010000000000000000" pitchFamily="34" charset="-122"/>
                  <a:cs typeface="Times New Roman" panose="02020603050405020304" charset="0"/>
                </a:rPr>
                <a:t>Chart Selection Logic Effectiveness</a:t>
              </a:r>
              <a:endParaRPr lang="en-US" sz="1400" b="1" dirty="0">
                <a:solidFill>
                  <a:srgbClr val="0000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endParaRPr>
            </a:p>
          </p:txBody>
        </p:sp>
      </p:grpSp>
      <p:graphicFrame>
        <p:nvGraphicFramePr>
          <p:cNvPr id="5" name="dda979e8-2a8f-4cbb-99ea-95510ed6f685"/>
          <p:cNvGraphicFramePr/>
          <p:nvPr/>
        </p:nvGraphicFramePr>
        <p:xfrm>
          <a:off x="571500" y="1657350"/>
          <a:ext cx="4336256" cy="2921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66ba7147-ecd6-4ef3-be00-6698659fddee"/>
          <p:cNvSpPr/>
          <p:nvPr/>
        </p:nvSpPr>
        <p:spPr>
          <a:xfrm>
            <a:off x="5479256" y="1385888"/>
            <a:ext cx="3357563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8F7D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rPr>
              <a:t>Matching Structure to Visuals</a:t>
            </a:r>
            <a:endParaRPr lang="en-US" sz="1400" b="1" dirty="0">
              <a:solidFill>
                <a:srgbClr val="FF8F7D"/>
              </a:solidFill>
              <a:latin typeface="Times New Roman" panose="02020603050405020304" charset="0"/>
              <a:ea typeface="ADLaM Display" panose="02010000000000000000" pitchFamily="34" charset="-122"/>
              <a:cs typeface="Times New Roman" panose="02020603050405020304" charset="0"/>
            </a:endParaRPr>
          </a:p>
        </p:txBody>
      </p:sp>
      <p:grpSp>
        <p:nvGrpSpPr>
          <p:cNvPr id="21" name="group-xsNIHSqw9OXyKIb4kp0EE"/>
          <p:cNvGrpSpPr/>
          <p:nvPr/>
        </p:nvGrpSpPr>
        <p:grpSpPr>
          <a:xfrm>
            <a:off x="5479256" y="1814513"/>
            <a:ext cx="3328988" cy="571500"/>
            <a:chOff x="5479256" y="1814513"/>
            <a:chExt cx="3328988" cy="571500"/>
          </a:xfrm>
        </p:grpSpPr>
        <p:sp>
          <p:nvSpPr>
            <p:cNvPr id="7" name="0d5b63f0-cf42-4dd0-9d59-36d0d220614c"/>
            <p:cNvSpPr/>
            <p:nvPr/>
          </p:nvSpPr>
          <p:spPr>
            <a:xfrm>
              <a:off x="5479256" y="1814513"/>
              <a:ext cx="3328988" cy="571500"/>
            </a:xfrm>
            <a:custGeom>
              <a:avLst/>
              <a:gdLst/>
              <a:ahLst/>
              <a:cxnLst/>
              <a:rect l="l" t="t" r="r" b="b"/>
              <a:pathLst>
                <a:path w="3328988" h="571500">
                  <a:moveTo>
                    <a:pt x="0" y="0"/>
                  </a:moveTo>
                  <a:lnTo>
                    <a:pt x="3243263" y="0"/>
                  </a:lnTo>
                  <a:cubicBezTo>
                    <a:pt x="3290607" y="0"/>
                    <a:pt x="3328988" y="38380"/>
                    <a:pt x="3328988" y="85725"/>
                  </a:cubicBezTo>
                  <a:lnTo>
                    <a:pt x="3328988" y="485775"/>
                  </a:lnTo>
                  <a:cubicBezTo>
                    <a:pt x="3328988" y="533120"/>
                    <a:pt x="3290607" y="571500"/>
                    <a:pt x="3243263" y="571500"/>
                  </a:cubicBez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DFE"/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" name="5b10a70d-4f43-4a11-9869-74f150b643cb"/>
            <p:cNvSpPr/>
            <p:nvPr/>
          </p:nvSpPr>
          <p:spPr>
            <a:xfrm>
              <a:off x="5622131" y="1928813"/>
              <a:ext cx="3086100" cy="3429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Scatter Plots:</a:t>
              </a:r>
              <a:r>
                <a:rPr lang="en-US" sz="1400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 Best for showing the </a:t>
              </a: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relationship</a:t>
              </a:r>
              <a:r>
                <a:rPr lang="en-US" sz="1400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 or correlation between two variables.</a:t>
              </a: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8" name="0d5b63f0-cf42-4dd0-9d59-36d0d220614c::border-strip-left"/>
          <p:cNvSpPr/>
          <p:nvPr/>
        </p:nvSpPr>
        <p:spPr>
          <a:xfrm>
            <a:off x="5479256" y="1814513"/>
            <a:ext cx="28575" cy="571500"/>
          </a:xfrm>
          <a:prstGeom prst="rect">
            <a:avLst/>
          </a:prstGeom>
          <a:solidFill>
            <a:srgbClr val="90D3F5"/>
          </a:solidFill>
          <a:ln w="12700">
            <a:solidFill>
              <a:srgbClr val="90D3F5">
                <a:alpha val="0"/>
              </a:srgbClr>
            </a:solidFill>
            <a:prstDash val="solid"/>
          </a:ln>
        </p:spPr>
      </p:sp>
      <p:grpSp>
        <p:nvGrpSpPr>
          <p:cNvPr id="22" name="group-EGSjYC4ibVw6Y8nfqlYtZ"/>
          <p:cNvGrpSpPr/>
          <p:nvPr/>
        </p:nvGrpSpPr>
        <p:grpSpPr>
          <a:xfrm>
            <a:off x="5479256" y="2500313"/>
            <a:ext cx="3328988" cy="571500"/>
            <a:chOff x="5479256" y="2500313"/>
            <a:chExt cx="3328988" cy="571500"/>
          </a:xfrm>
        </p:grpSpPr>
        <p:sp>
          <p:nvSpPr>
            <p:cNvPr id="9" name="be372a91-491d-4899-99cc-27664f3f89d1"/>
            <p:cNvSpPr/>
            <p:nvPr/>
          </p:nvSpPr>
          <p:spPr>
            <a:xfrm>
              <a:off x="5479256" y="2500313"/>
              <a:ext cx="3328988" cy="571500"/>
            </a:xfrm>
            <a:custGeom>
              <a:avLst/>
              <a:gdLst/>
              <a:ahLst/>
              <a:cxnLst/>
              <a:rect l="l" t="t" r="r" b="b"/>
              <a:pathLst>
                <a:path w="3328988" h="571500">
                  <a:moveTo>
                    <a:pt x="0" y="0"/>
                  </a:moveTo>
                  <a:lnTo>
                    <a:pt x="3243263" y="0"/>
                  </a:lnTo>
                  <a:cubicBezTo>
                    <a:pt x="3290607" y="0"/>
                    <a:pt x="3328988" y="38380"/>
                    <a:pt x="3328988" y="85725"/>
                  </a:cubicBezTo>
                  <a:lnTo>
                    <a:pt x="3328988" y="485775"/>
                  </a:lnTo>
                  <a:cubicBezTo>
                    <a:pt x="3328988" y="533120"/>
                    <a:pt x="3290607" y="571500"/>
                    <a:pt x="3243263" y="571500"/>
                  </a:cubicBez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F8FF"/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6" name="5dac0a65-ca07-4f16-834d-014fc0f18636"/>
            <p:cNvSpPr/>
            <p:nvPr/>
          </p:nvSpPr>
          <p:spPr>
            <a:xfrm>
              <a:off x="5622131" y="2614613"/>
              <a:ext cx="3086100" cy="3429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Histograms:</a:t>
              </a:r>
              <a:r>
                <a:rPr lang="en-US" sz="1400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 Ideal for visualizing the </a:t>
              </a: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distribution</a:t>
              </a:r>
              <a:r>
                <a:rPr lang="en-US" sz="1400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 and frequency.</a:t>
              </a: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0" name="be372a91-491d-4899-99cc-27664f3f89d1::border-strip-left"/>
          <p:cNvSpPr/>
          <p:nvPr/>
        </p:nvSpPr>
        <p:spPr>
          <a:xfrm>
            <a:off x="5479256" y="2500313"/>
            <a:ext cx="28575" cy="571500"/>
          </a:xfrm>
          <a:prstGeom prst="rect">
            <a:avLst/>
          </a:prstGeom>
          <a:solidFill>
            <a:srgbClr val="7971F8"/>
          </a:solidFill>
          <a:ln w="12700">
            <a:solidFill>
              <a:srgbClr val="7971F8">
                <a:alpha val="0"/>
              </a:srgbClr>
            </a:solidFill>
            <a:prstDash val="solid"/>
          </a:ln>
        </p:spPr>
      </p:sp>
      <p:grpSp>
        <p:nvGrpSpPr>
          <p:cNvPr id="23" name="group-VhPJNysPFQekXOjvmWTRv"/>
          <p:cNvGrpSpPr/>
          <p:nvPr/>
        </p:nvGrpSpPr>
        <p:grpSpPr>
          <a:xfrm>
            <a:off x="5479256" y="3186113"/>
            <a:ext cx="3328988" cy="571500"/>
            <a:chOff x="5479256" y="3186113"/>
            <a:chExt cx="3328988" cy="571500"/>
          </a:xfrm>
        </p:grpSpPr>
        <p:sp>
          <p:nvSpPr>
            <p:cNvPr id="11" name="abf07a32-77fa-4572-9171-f5db7e11a6ae"/>
            <p:cNvSpPr/>
            <p:nvPr/>
          </p:nvSpPr>
          <p:spPr>
            <a:xfrm>
              <a:off x="5479256" y="3186113"/>
              <a:ext cx="3328988" cy="571500"/>
            </a:xfrm>
            <a:custGeom>
              <a:avLst/>
              <a:gdLst/>
              <a:ahLst/>
              <a:cxnLst/>
              <a:rect l="l" t="t" r="r" b="b"/>
              <a:pathLst>
                <a:path w="3328988" h="571500">
                  <a:moveTo>
                    <a:pt x="0" y="0"/>
                  </a:moveTo>
                  <a:lnTo>
                    <a:pt x="3243263" y="0"/>
                  </a:lnTo>
                  <a:cubicBezTo>
                    <a:pt x="3290607" y="0"/>
                    <a:pt x="3328988" y="38380"/>
                    <a:pt x="3328988" y="85725"/>
                  </a:cubicBezTo>
                  <a:lnTo>
                    <a:pt x="3328988" y="485775"/>
                  </a:lnTo>
                  <a:cubicBezTo>
                    <a:pt x="3328988" y="533120"/>
                    <a:pt x="3290607" y="571500"/>
                    <a:pt x="3243263" y="571500"/>
                  </a:cubicBez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9F8"/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c924ebd6-1d48-4a62-84ea-e1d369ffef23"/>
            <p:cNvSpPr/>
            <p:nvPr/>
          </p:nvSpPr>
          <p:spPr>
            <a:xfrm>
              <a:off x="5622131" y="3300413"/>
              <a:ext cx="3086100" cy="3429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Bar Charts:</a:t>
              </a:r>
              <a:r>
                <a:rPr lang="en-US" sz="1400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 The standard for </a:t>
              </a: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comparing</a:t>
              </a:r>
              <a:r>
                <a:rPr lang="en-US" sz="1400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 discrete categories.</a:t>
              </a: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2" name="abf07a32-77fa-4572-9171-f5db7e11a6ae::border-strip-left"/>
          <p:cNvSpPr/>
          <p:nvPr/>
        </p:nvSpPr>
        <p:spPr>
          <a:xfrm>
            <a:off x="5479256" y="3186113"/>
            <a:ext cx="28575" cy="571500"/>
          </a:xfrm>
          <a:prstGeom prst="rect">
            <a:avLst/>
          </a:prstGeom>
          <a:solidFill>
            <a:srgbClr val="FF8F7D"/>
          </a:solidFill>
          <a:ln w="12700">
            <a:solidFill>
              <a:srgbClr val="FF8F7D">
                <a:alpha val="0"/>
              </a:srgbClr>
            </a:solidFill>
            <a:prstDash val="solid"/>
          </a:ln>
        </p:spPr>
      </p:sp>
      <p:grpSp>
        <p:nvGrpSpPr>
          <p:cNvPr id="24" name="group-JHwROqQMrn1wHtgQlNZcw"/>
          <p:cNvGrpSpPr/>
          <p:nvPr/>
        </p:nvGrpSpPr>
        <p:grpSpPr>
          <a:xfrm>
            <a:off x="5479256" y="3871913"/>
            <a:ext cx="3328988" cy="571500"/>
            <a:chOff x="5479256" y="3871913"/>
            <a:chExt cx="3328988" cy="571500"/>
          </a:xfrm>
        </p:grpSpPr>
        <p:sp>
          <p:nvSpPr>
            <p:cNvPr id="13" name="45beed2e-ee94-4365-ad0e-320ebd71dcf3"/>
            <p:cNvSpPr/>
            <p:nvPr/>
          </p:nvSpPr>
          <p:spPr>
            <a:xfrm>
              <a:off x="5479256" y="3871913"/>
              <a:ext cx="3328988" cy="571500"/>
            </a:xfrm>
            <a:custGeom>
              <a:avLst/>
              <a:gdLst/>
              <a:ahLst/>
              <a:cxnLst/>
              <a:rect l="l" t="t" r="r" b="b"/>
              <a:pathLst>
                <a:path w="3328988" h="571500">
                  <a:moveTo>
                    <a:pt x="0" y="0"/>
                  </a:moveTo>
                  <a:lnTo>
                    <a:pt x="3243263" y="0"/>
                  </a:lnTo>
                  <a:cubicBezTo>
                    <a:pt x="3290607" y="0"/>
                    <a:pt x="3328988" y="38380"/>
                    <a:pt x="3328988" y="85725"/>
                  </a:cubicBezTo>
                  <a:lnTo>
                    <a:pt x="3328988" y="485775"/>
                  </a:lnTo>
                  <a:cubicBezTo>
                    <a:pt x="3328988" y="533120"/>
                    <a:pt x="3290607" y="571500"/>
                    <a:pt x="3243263" y="571500"/>
                  </a:cubicBez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" name="2ae2d650-7850-416a-bf3f-fb7e5472e087"/>
            <p:cNvSpPr/>
            <p:nvPr/>
          </p:nvSpPr>
          <p:spPr>
            <a:xfrm>
              <a:off x="5622131" y="3986213"/>
              <a:ext cx="3086100" cy="3429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Heatmaps:</a:t>
              </a:r>
              <a:r>
                <a:rPr lang="en-US" sz="1400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 Effective for large matrices or </a:t>
              </a: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correlations</a:t>
              </a:r>
              <a:r>
                <a:rPr lang="en-US" sz="1400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 across many variables.</a:t>
              </a: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4" name="45beed2e-ee94-4365-ad0e-320ebd71dcf3::border-strip-left"/>
          <p:cNvSpPr/>
          <p:nvPr/>
        </p:nvSpPr>
        <p:spPr>
          <a:xfrm>
            <a:off x="5479256" y="3871913"/>
            <a:ext cx="28575" cy="571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tmFilter="0,0; 0.25,0.578; 0.5,0.875; 0.75,0.984; 1,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tmFilter="0,0; 0.25,0.578; 0.5,0.875; 0.75,0.984; 1,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tmFilter="0,0; 0.25,0.578; 0.5,0.875; 0.75,0.984; 1,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tmFilter="0,0; 0.25,0.578; 0.5,0.875; 0.75,0.984; 1,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tmFilter="0,0; 0.25,0.578; 0.5,0.875; 0.75,0.984; 1,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tmFilter="0,0; 0.25,0.578; 0.5,0.875; 0.75,0.984; 1,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tmFilter="0,0; 0.25,0.578; 0.5,0.875; 0.75,0.984; 1,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tmFilter="0,0; 0.25,0.578; 0.5,0.875; 0.75,0.984; 1,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tmFilter="0,0; 0.25,0.578; 0.5,0.875; 0.75,0.984; 1,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tmFilter="0,0; 0.25,0.578; 0.5,0.875; 0.75,0.984; 1,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00" tmFilter="0,0; 0.25,0.578; 0.5,0.875; 0.75,0.984; 1,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00" tmFilter="0,0; 0.25,0.578; 0.5,0.875; 0.75,0.984; 1,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tmFilter="0,0; 0.25,0.578; 0.5,0.875; 0.75,0.984; 1,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tmFilter="0,0; 0.25,0.578; 0.5,0.875; 0.75,0.984; 1,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00" tmFilter="0,0; 0.25,0.578; 0.5,0.875; 0.75,0.984; 1,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00" tmFilter="0,0; 0.25,0.578; 0.5,0.875; 0.75,0.984; 1,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600" tmFilter="0,0; 0.25,0.578; 0.5,0.875; 0.75,0.984; 1,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600" tmFilter="0,0; 0.25,0.578; 0.5,0.875; 0.75,0.984; 1,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00" tmFilter="0,0; 0.25,0.578; 0.5,0.875; 0.75,0.984; 1,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600" tmFilter="0,0; 0.25,0.578; 0.5,0.875; 0.75,0.984; 1,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  <p:bldP spid="10" grpId="0"/>
      <p:bldP spid="12" grpId="0"/>
      <p:bldP spid="14" grpId="0"/>
      <p:bldP spid="21" grpId="0"/>
      <p:bldP spid="22" grpId="0"/>
      <p:bldP spid="23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a49f721-ee33-41a0-925a-d4c4ce08987d"/>
          <p:cNvSpPr/>
          <p:nvPr/>
        </p:nvSpPr>
        <p:spPr>
          <a:xfrm>
            <a:off x="342900" y="342900"/>
            <a:ext cx="8486775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rPr>
              <a:t>Integrating Cleaning and Plotting Workflows</a:t>
            </a:r>
            <a:endParaRPr lang="en-US" sz="1400" b="1" dirty="0">
              <a:solidFill>
                <a:srgbClr val="000000"/>
              </a:solidFill>
              <a:latin typeface="Times New Roman" panose="02020603050405020304" charset="0"/>
              <a:ea typeface="ADLaM Display" panose="02010000000000000000" pitchFamily="34" charset="-122"/>
              <a:cs typeface="Times New Roman" panose="02020603050405020304" charset="0"/>
            </a:endParaRPr>
          </a:p>
        </p:txBody>
      </p:sp>
      <p:sp>
        <p:nvSpPr>
          <p:cNvPr id="3" name="d0ea6322-de63-4ce9-adb0-d3e07df2d76f"/>
          <p:cNvSpPr/>
          <p:nvPr/>
        </p:nvSpPr>
        <p:spPr>
          <a:xfrm>
            <a:off x="342900" y="914400"/>
            <a:ext cx="8486775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rPr>
              <a:t>Pre-processing and visualization are not isolated steps; they are iterative.</a:t>
            </a:r>
            <a:endParaRPr lang="en-US" sz="1400" dirty="0">
              <a:solidFill>
                <a:srgbClr val="000000"/>
              </a:solidFill>
              <a:latin typeface="Times New Roman" panose="02020603050405020304" charset="0"/>
              <a:ea typeface="Varela Round" pitchFamily="34" charset="-122"/>
              <a:cs typeface="Times New Roman" panose="02020603050405020304" charset="0"/>
            </a:endParaRPr>
          </a:p>
        </p:txBody>
      </p:sp>
      <p:grpSp>
        <p:nvGrpSpPr>
          <p:cNvPr id="22" name="group-Apd3J8StUd0Gck2nX6XJI"/>
          <p:cNvGrpSpPr/>
          <p:nvPr/>
        </p:nvGrpSpPr>
        <p:grpSpPr>
          <a:xfrm>
            <a:off x="342900" y="3714750"/>
            <a:ext cx="8458200" cy="1085850"/>
            <a:chOff x="342900" y="3714750"/>
            <a:chExt cx="8458200" cy="1085850"/>
          </a:xfrm>
        </p:grpSpPr>
        <p:sp>
          <p:nvSpPr>
            <p:cNvPr id="4" name="08f60603-62f4-45c3-9595-869c00546927"/>
            <p:cNvSpPr/>
            <p:nvPr/>
          </p:nvSpPr>
          <p:spPr>
            <a:xfrm>
              <a:off x="342900" y="3714750"/>
              <a:ext cx="8458200" cy="1085850"/>
            </a:xfrm>
            <a:prstGeom prst="roundRect">
              <a:avLst>
                <a:gd name="adj" fmla="val 7895"/>
              </a:avLst>
            </a:prstGeom>
            <a:solidFill>
              <a:srgbClr val="000000">
                <a:alpha val="5000"/>
              </a:srgbClr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" name="c3f16db2-bb02-4326-b2d3-fde1430138f0"/>
            <p:cNvSpPr/>
            <p:nvPr/>
          </p:nvSpPr>
          <p:spPr>
            <a:xfrm>
              <a:off x="571500" y="3943350"/>
              <a:ext cx="8029575" cy="228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anose="02020603050405020304" charset="0"/>
                  <a:ea typeface="ADLaM Display" panose="02010000000000000000" pitchFamily="34" charset="-122"/>
                  <a:cs typeface="Times New Roman" panose="02020603050405020304" charset="0"/>
                </a:rPr>
                <a:t>Impact of Cleaning on Output</a:t>
              </a:r>
              <a:endParaRPr lang="en-US" sz="1400" b="1" dirty="0">
                <a:solidFill>
                  <a:srgbClr val="000000"/>
                </a:solidFill>
                <a:latin typeface="Times New Roman" panose="02020603050405020304" charset="0"/>
                <a:ea typeface="ADLaM Display" panose="02010000000000000000" pitchFamily="34" charset="-122"/>
                <a:cs typeface="Times New Roman" panose="02020603050405020304" charset="0"/>
              </a:endParaRPr>
            </a:p>
          </p:txBody>
        </p:sp>
        <p:sp>
          <p:nvSpPr>
            <p:cNvPr id="7" name="7b40bd58-4eb1-49e5-a0a3-99234dbaa095"/>
            <p:cNvSpPr/>
            <p:nvPr/>
          </p:nvSpPr>
          <p:spPr>
            <a:xfrm>
              <a:off x="571500" y="4229100"/>
              <a:ext cx="8015288" cy="3429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5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If data is not normalized, a heatmap may show false intensity. If outliers are not handled, a scatter plot may become unreadable due to extreme scaling.</a:t>
              </a:r>
              <a:endParaRPr lang="en-US" sz="1400" dirty="0">
                <a:solidFill>
                  <a:srgbClr val="000000"/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</p:grpSp>
      <p:pic>
        <p:nvPicPr>
          <p:cNvPr id="5" name="90ce6d0c-c719-49b9-8301-b33732860ad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42900" y="1457325"/>
            <a:ext cx="8458200" cy="1921669"/>
          </a:xfrm>
          <a:prstGeom prst="rect">
            <a:avLst/>
          </a:prstGeom>
        </p:spPr>
      </p:pic>
      <p:grpSp>
        <p:nvGrpSpPr>
          <p:cNvPr id="18" name="group-Zqjtw2pAWuC1HbhdPG0JM"/>
          <p:cNvGrpSpPr/>
          <p:nvPr/>
        </p:nvGrpSpPr>
        <p:grpSpPr>
          <a:xfrm>
            <a:off x="457200" y="1800225"/>
            <a:ext cx="1285875" cy="685800"/>
            <a:chOff x="457200" y="1800225"/>
            <a:chExt cx="1285875" cy="685800"/>
          </a:xfrm>
        </p:grpSpPr>
        <p:sp>
          <p:nvSpPr>
            <p:cNvPr id="8" name="f1eff6df-d623-4ea7-a3e9-3195f494c724"/>
            <p:cNvSpPr/>
            <p:nvPr/>
          </p:nvSpPr>
          <p:spPr>
            <a:xfrm>
              <a:off x="457200" y="1800225"/>
              <a:ext cx="1285875" cy="685800"/>
            </a:xfrm>
            <a:prstGeom prst="roundRect">
              <a:avLst>
                <a:gd name="adj" fmla="val 12500"/>
              </a:avLst>
            </a:prstGeom>
            <a:solidFill>
              <a:srgbClr val="000000">
                <a:alpha val="5000"/>
              </a:srgbClr>
            </a:solidFill>
            <a:ln w="7144">
              <a:solidFill>
                <a:srgbClr val="000000">
                  <a:alpha val="500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" name="3df852b1-016b-478c-abd4-3b34216a52ff"/>
            <p:cNvSpPr/>
            <p:nvPr/>
          </p:nvSpPr>
          <p:spPr>
            <a:xfrm>
              <a:off x="664055" y="2057400"/>
              <a:ext cx="907884" cy="1714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Raw Data Input</a:t>
              </a:r>
              <a:endParaRPr lang="en-US" sz="1400" dirty="0">
                <a:solidFill>
                  <a:srgbClr val="000000"/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</p:grpSp>
      <p:grpSp>
        <p:nvGrpSpPr>
          <p:cNvPr id="19" name="group-06ZOthcAbIz7XaGnHZFSj"/>
          <p:cNvGrpSpPr/>
          <p:nvPr/>
        </p:nvGrpSpPr>
        <p:grpSpPr>
          <a:xfrm>
            <a:off x="2771775" y="1800225"/>
            <a:ext cx="1285875" cy="685800"/>
            <a:chOff x="2771775" y="1800225"/>
            <a:chExt cx="1285875" cy="685800"/>
          </a:xfrm>
        </p:grpSpPr>
        <p:sp>
          <p:nvSpPr>
            <p:cNvPr id="9" name="0c9f7e72-ef1f-427f-a23e-63525eebaae1"/>
            <p:cNvSpPr/>
            <p:nvPr/>
          </p:nvSpPr>
          <p:spPr>
            <a:xfrm>
              <a:off x="2771775" y="1800225"/>
              <a:ext cx="1285875" cy="685800"/>
            </a:xfrm>
            <a:prstGeom prst="roundRect">
              <a:avLst>
                <a:gd name="adj" fmla="val 12500"/>
              </a:avLst>
            </a:prstGeom>
            <a:solidFill>
              <a:srgbClr val="000000">
                <a:alpha val="5000"/>
              </a:srgbClr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" name="23c95867-7f64-4ecf-802b-3a010522e609"/>
            <p:cNvSpPr/>
            <p:nvPr/>
          </p:nvSpPr>
          <p:spPr>
            <a:xfrm>
              <a:off x="2886075" y="1971675"/>
              <a:ext cx="1071563" cy="3429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Pre-processing (Cleaning/Scaling)</a:t>
              </a:r>
              <a:endParaRPr lang="en-US" sz="1400" dirty="0">
                <a:solidFill>
                  <a:srgbClr val="000000"/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</p:grpSp>
      <p:grpSp>
        <p:nvGrpSpPr>
          <p:cNvPr id="20" name="group-K2DgQmKaxU9dFzzesdDTn"/>
          <p:cNvGrpSpPr/>
          <p:nvPr/>
        </p:nvGrpSpPr>
        <p:grpSpPr>
          <a:xfrm>
            <a:off x="5086350" y="1800225"/>
            <a:ext cx="1285875" cy="685800"/>
            <a:chOff x="5086350" y="1800225"/>
            <a:chExt cx="1285875" cy="685800"/>
          </a:xfrm>
        </p:grpSpPr>
        <p:sp>
          <p:nvSpPr>
            <p:cNvPr id="10" name="72c5ef04-62fd-40de-97ec-9091df078759"/>
            <p:cNvSpPr/>
            <p:nvPr/>
          </p:nvSpPr>
          <p:spPr>
            <a:xfrm>
              <a:off x="5086350" y="1800225"/>
              <a:ext cx="1285875" cy="685800"/>
            </a:xfrm>
            <a:prstGeom prst="roundRect">
              <a:avLst>
                <a:gd name="adj" fmla="val 12500"/>
              </a:avLst>
            </a:prstGeom>
            <a:solidFill>
              <a:srgbClr val="000000">
                <a:alpha val="5000"/>
              </a:srgbClr>
            </a:solidFill>
            <a:ln w="7144">
              <a:solidFill>
                <a:srgbClr val="000000">
                  <a:alpha val="500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4" name="63c437d7-0fe0-4b36-ac06-b3059c7f20b7"/>
            <p:cNvSpPr/>
            <p:nvPr/>
          </p:nvSpPr>
          <p:spPr>
            <a:xfrm>
              <a:off x="5223625" y="2057400"/>
              <a:ext cx="1039900" cy="17145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Data Visualization</a:t>
              </a:r>
              <a:endParaRPr lang="en-US" sz="1400" dirty="0">
                <a:solidFill>
                  <a:srgbClr val="000000"/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</p:grpSp>
      <p:grpSp>
        <p:nvGrpSpPr>
          <p:cNvPr id="21" name="group-bI4O_NEeS0-egg3SECa1h"/>
          <p:cNvGrpSpPr/>
          <p:nvPr/>
        </p:nvGrpSpPr>
        <p:grpSpPr>
          <a:xfrm>
            <a:off x="7400925" y="1800225"/>
            <a:ext cx="1285875" cy="685800"/>
            <a:chOff x="7400925" y="1800225"/>
            <a:chExt cx="1285875" cy="685800"/>
          </a:xfrm>
        </p:grpSpPr>
        <p:sp>
          <p:nvSpPr>
            <p:cNvPr id="11" name="647e74b1-2d52-4a9f-88f6-adf012366150"/>
            <p:cNvSpPr/>
            <p:nvPr/>
          </p:nvSpPr>
          <p:spPr>
            <a:xfrm>
              <a:off x="7400925" y="1800225"/>
              <a:ext cx="1285875" cy="685800"/>
            </a:xfrm>
            <a:prstGeom prst="roundRect">
              <a:avLst>
                <a:gd name="adj" fmla="val 12500"/>
              </a:avLst>
            </a:prstGeom>
            <a:solidFill>
              <a:srgbClr val="000000">
                <a:alpha val="5000"/>
              </a:srgbClr>
            </a:solidFill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" name="a9cc6b59-cd4d-4da4-8335-8b780010a416"/>
            <p:cNvSpPr/>
            <p:nvPr/>
          </p:nvSpPr>
          <p:spPr>
            <a:xfrm>
              <a:off x="7515225" y="1971675"/>
              <a:ext cx="1071563" cy="3429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Times New Roman" panose="02020603050405020304" charset="0"/>
                  <a:ea typeface="Varela Round" pitchFamily="34" charset="-122"/>
                  <a:cs typeface="Times New Roman" panose="02020603050405020304" charset="0"/>
                </a:rPr>
                <a:t>Interpretation &amp; Feedback</a:t>
              </a:r>
              <a:endParaRPr lang="en-US" sz="1400" dirty="0">
                <a:solidFill>
                  <a:srgbClr val="000000"/>
                </a:solidFill>
                <a:latin typeface="Times New Roman" panose="02020603050405020304" charset="0"/>
                <a:ea typeface="Varela Round" pitchFamily="34" charset="-122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tmFilter="0,0; 0.25,0.578; 0.5,0.875; 0.75,0.984; 1,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tmFilter="0,0; 0.25,0.578; 0.5,0.875; 0.75,0.984; 1,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tmFilter="0,0; 0.25,0.578; 0.5,0.875; 0.75,0.984; 1,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tmFilter="0,0; 0.25,0.578; 0.5,0.875; 0.75,0.984; 1,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tmFilter="0,0; 0.25,0.578; 0.5,0.875; 0.75,0.984; 1,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tmFilter="0,0; 0.25,0.578; 0.5,0.875; 0.75,0.984; 1,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tmFilter="0,0; 0.25,0.578; 0.5,0.875; 0.75,0.984; 1,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tmFilter="0,0; 0.25,0.578; 0.5,0.875; 0.75,0.984; 1,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tmFilter="0,0; 0.25,0.578; 0.5,0.875; 0.75,0.984; 1,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tmFilter="0,0; 0.25,0.578; 0.5,0.875; 0.75,0.984; 1,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00" tmFilter="0,0; 0.25,0.578; 0.5,0.875; 0.75,0.984; 1,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00" tmFilter="0,0; 0.25,0.578; 0.5,0.875; 0.75,0.984; 1,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18" grpId="0"/>
      <p:bldP spid="19" grpId="0"/>
      <p:bldP spid="20" grpId="0"/>
      <p:bldP spid="21" grpId="0"/>
      <p:bldP spid="22" grpId="0"/>
    </p:bldLst>
  </p:timing>
</p:sld>
</file>

<file path=ppt/theme/theme1.xml><?xml version="1.0" encoding="utf-8"?>
<a:theme xmlns:a="http://schemas.openxmlformats.org/drawingml/2006/main" name="SlidesAI Simp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DLaM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arela Rou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sAI Simp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DLaM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arela Rou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3366</Words>
  <Application>WPS Presentation</Application>
  <PresentationFormat>On-screen Show (16:9)</PresentationFormat>
  <Paragraphs>153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4" baseType="lpstr">
      <vt:lpstr>Arial</vt:lpstr>
      <vt:lpstr>SimSun</vt:lpstr>
      <vt:lpstr>Wingdings</vt:lpstr>
      <vt:lpstr>ADLaM Display</vt:lpstr>
      <vt:lpstr>ADLaM Display</vt:lpstr>
      <vt:lpstr>ADLaM Display</vt:lpstr>
      <vt:lpstr>Varela Round</vt:lpstr>
      <vt:lpstr>Varela Round</vt:lpstr>
      <vt:lpstr>Varela Round</vt:lpstr>
      <vt:lpstr>ADLaM Display</vt:lpstr>
      <vt:lpstr>Arial</vt:lpstr>
      <vt:lpstr>Varela Round</vt:lpstr>
      <vt:lpstr>Microsoft YaHei</vt:lpstr>
      <vt:lpstr>Arial Unicode MS</vt:lpstr>
      <vt:lpstr>Calibri</vt:lpstr>
      <vt:lpstr>Times New Roman</vt:lpstr>
      <vt:lpstr>SlidesAI Simple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professional PowerPoint presentation (maximum 8 slides) titled "Sample Programs to Pre-process and Visualize Da</dc:title>
  <dc:creator>SlidesAI</dc:creator>
  <dc:subject>PptxGenJS Presentation</dc:subject>
  <cp:lastModifiedBy>PARIPATI C</cp:lastModifiedBy>
  <cp:revision>3</cp:revision>
  <dcterms:created xsi:type="dcterms:W3CDTF">2026-07-31T04:13:00Z</dcterms:created>
  <dcterms:modified xsi:type="dcterms:W3CDTF">2026-07-31T04:21:54Z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7A2E4B005DC245E7BF7ADBE4DD220E5F_13</vt:lpwstr>
  </property>
  <property fmtid="{D5CDD505-2E9C-101B-9397-08002B2CF9AE}" pid="3" name="KSOProductBuildVer">
    <vt:lpwstr>1033-12.1.0.27458</vt:lpwstr>
  </property>
</Properties>
</file>